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59" r:id="rId6"/>
    <p:sldId id="268" r:id="rId7"/>
    <p:sldId id="270" r:id="rId8"/>
    <p:sldId id="269" r:id="rId9"/>
    <p:sldId id="271" r:id="rId10"/>
    <p:sldId id="272" r:id="rId11"/>
    <p:sldId id="260" r:id="rId12"/>
    <p:sldId id="274" r:id="rId13"/>
    <p:sldId id="273" r:id="rId14"/>
    <p:sldId id="262" r:id="rId15"/>
    <p:sldId id="261" r:id="rId16"/>
    <p:sldId id="264" r:id="rId17"/>
    <p:sldId id="265" r:id="rId18"/>
    <p:sldId id="266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C8DF-63FB-4A4C-8DCF-0DB2D74DA86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5DABE-CC42-4BF6-A74D-D727243691A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1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C8DF-63FB-4A4C-8DCF-0DB2D74DA86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5DABE-CC42-4BF6-A74D-D727243691A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42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C8DF-63FB-4A4C-8DCF-0DB2D74DA86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5DABE-CC42-4BF6-A74D-D727243691A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05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C8DF-63FB-4A4C-8DCF-0DB2D74DA86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5DABE-CC42-4BF6-A74D-D727243691A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8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C8DF-63FB-4A4C-8DCF-0DB2D74DA86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5DABE-CC42-4BF6-A74D-D727243691A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4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C8DF-63FB-4A4C-8DCF-0DB2D74DA86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5DABE-CC42-4BF6-A74D-D727243691A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C8DF-63FB-4A4C-8DCF-0DB2D74DA86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5DABE-CC42-4BF6-A74D-D727243691A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27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C8DF-63FB-4A4C-8DCF-0DB2D74DA86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5DABE-CC42-4BF6-A74D-D727243691A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1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C8DF-63FB-4A4C-8DCF-0DB2D74DA86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5DABE-CC42-4BF6-A74D-D727243691A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04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C8DF-63FB-4A4C-8DCF-0DB2D74DA86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5DABE-CC42-4BF6-A74D-D727243691A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6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C8DF-63FB-4A4C-8DCF-0DB2D74DA86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5DABE-CC42-4BF6-A74D-D727243691A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4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BC8DF-63FB-4A4C-8DCF-0DB2D74DA86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5DABE-CC42-4BF6-A74D-D727243691A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02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Hyper </a:t>
            </a:r>
            <a:r>
              <a:rPr lang="fr-FR" b="1" dirty="0" err="1"/>
              <a:t>representations</a:t>
            </a:r>
            <a:r>
              <a:rPr lang="fr-FR" b="1" dirty="0"/>
              <a:t> for </a:t>
            </a:r>
            <a:br>
              <a:rPr lang="fr-FR" b="1" dirty="0"/>
            </a:br>
            <a:r>
              <a:rPr lang="fr-FR" b="1" dirty="0" err="1" smtClean="0"/>
              <a:t>Effecient</a:t>
            </a:r>
            <a:r>
              <a:rPr lang="fr-FR" b="1" dirty="0" smtClean="0"/>
              <a:t> </a:t>
            </a:r>
            <a:r>
              <a:rPr lang="fr-FR" b="1" dirty="0" err="1" smtClean="0"/>
              <a:t>Continual</a:t>
            </a:r>
            <a:r>
              <a:rPr lang="fr-FR" b="1" dirty="0" smtClean="0"/>
              <a:t> Learning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88831" y="3619290"/>
            <a:ext cx="3893388" cy="2703871"/>
          </a:xfrm>
        </p:spPr>
        <p:txBody>
          <a:bodyPr>
            <a:noAutofit/>
          </a:bodyPr>
          <a:lstStyle/>
          <a:p>
            <a:pPr algn="l"/>
            <a:r>
              <a:rPr lang="fr-FR" sz="2000" u="sng" dirty="0"/>
              <a:t>Keywords </a:t>
            </a:r>
            <a:r>
              <a:rPr lang="fr-FR" sz="2000" dirty="0"/>
              <a:t>: </a:t>
            </a:r>
          </a:p>
          <a:p>
            <a:pPr algn="l"/>
            <a:r>
              <a:rPr lang="fr-FR" sz="2000" dirty="0"/>
              <a:t>-Persistent </a:t>
            </a:r>
            <a:r>
              <a:rPr lang="fr-FR" sz="2000" dirty="0" err="1"/>
              <a:t>Homology</a:t>
            </a:r>
            <a:r>
              <a:rPr lang="fr-FR" sz="2000" dirty="0"/>
              <a:t> </a:t>
            </a:r>
          </a:p>
          <a:p>
            <a:pPr algn="l"/>
            <a:r>
              <a:rPr lang="fr-FR" sz="2000" dirty="0"/>
              <a:t>-Optimal Transport </a:t>
            </a:r>
            <a:endParaRPr lang="fr-FR" sz="2000" dirty="0" smtClean="0"/>
          </a:p>
          <a:p>
            <a:pPr algn="l"/>
            <a:r>
              <a:rPr lang="fr-FR" sz="2000" dirty="0" smtClean="0"/>
              <a:t>-</a:t>
            </a:r>
            <a:r>
              <a:rPr lang="fr-FR" sz="2000" dirty="0" err="1"/>
              <a:t>Pruning</a:t>
            </a:r>
            <a:r>
              <a:rPr lang="fr-FR" sz="2000" dirty="0"/>
              <a:t> </a:t>
            </a:r>
            <a:r>
              <a:rPr lang="fr-FR" sz="2000" dirty="0" smtClean="0"/>
              <a:t>/ Distillation</a:t>
            </a:r>
          </a:p>
          <a:p>
            <a:pPr algn="l"/>
            <a:r>
              <a:rPr lang="fr-FR" sz="2000" dirty="0" smtClean="0"/>
              <a:t>-</a:t>
            </a:r>
            <a:r>
              <a:rPr lang="fr-FR" sz="2000" dirty="0" err="1"/>
              <a:t>Automated</a:t>
            </a:r>
            <a:r>
              <a:rPr lang="fr-FR" sz="2000" dirty="0"/>
              <a:t> Machine Learning</a:t>
            </a:r>
          </a:p>
          <a:p>
            <a:pPr algn="l"/>
            <a:r>
              <a:rPr lang="fr-FR" sz="2000" dirty="0"/>
              <a:t>-Meta </a:t>
            </a:r>
            <a:r>
              <a:rPr lang="fr-FR" sz="2000" dirty="0" err="1"/>
              <a:t>learning</a:t>
            </a:r>
            <a:r>
              <a:rPr lang="fr-FR" sz="2000" dirty="0"/>
              <a:t> </a:t>
            </a:r>
          </a:p>
          <a:p>
            <a:pPr algn="l"/>
            <a:r>
              <a:rPr lang="fr-FR" sz="2000" dirty="0"/>
              <a:t>-</a:t>
            </a:r>
            <a:r>
              <a:rPr lang="fr-FR" sz="2000" dirty="0" err="1"/>
              <a:t>Category</a:t>
            </a:r>
            <a:r>
              <a:rPr lang="fr-FR" sz="2000" dirty="0"/>
              <a:t> </a:t>
            </a:r>
            <a:r>
              <a:rPr lang="fr-FR" sz="2000" dirty="0" err="1"/>
              <a:t>theory</a:t>
            </a:r>
            <a:endParaRPr lang="fr-FR" sz="2000" dirty="0"/>
          </a:p>
          <a:p>
            <a:pPr algn="l"/>
            <a:endParaRPr lang="fr-FR" sz="2000" dirty="0"/>
          </a:p>
          <a:p>
            <a:pPr algn="l"/>
            <a:endParaRPr lang="fr-FR" sz="2000" dirty="0"/>
          </a:p>
          <a:p>
            <a:pPr algn="l"/>
            <a:endParaRPr lang="en-US" sz="20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047116" y="3828217"/>
            <a:ext cx="5199599" cy="228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1st </a:t>
            </a:r>
            <a:r>
              <a:rPr lang="fr-FR" dirty="0" err="1" smtClean="0"/>
              <a:t>year</a:t>
            </a:r>
            <a:r>
              <a:rPr lang="fr-FR" dirty="0" smtClean="0"/>
              <a:t> </a:t>
            </a:r>
            <a:r>
              <a:rPr lang="fr-FR" dirty="0" err="1" smtClean="0"/>
              <a:t>phD</a:t>
            </a:r>
            <a:r>
              <a:rPr lang="fr-FR" dirty="0" smtClean="0"/>
              <a:t> </a:t>
            </a:r>
            <a:r>
              <a:rPr lang="fr-FR" dirty="0" err="1" smtClean="0"/>
              <a:t>student</a:t>
            </a:r>
            <a:r>
              <a:rPr lang="fr-FR" dirty="0" smtClean="0"/>
              <a:t>:</a:t>
            </a:r>
          </a:p>
          <a:p>
            <a:r>
              <a:rPr lang="fr-FR" dirty="0" smtClean="0"/>
              <a:t> Aymen </a:t>
            </a:r>
            <a:r>
              <a:rPr lang="fr-FR" dirty="0" err="1" smtClean="0"/>
              <a:t>Tlili</a:t>
            </a:r>
            <a:endParaRPr lang="fr-FR" dirty="0" smtClean="0"/>
          </a:p>
          <a:p>
            <a:r>
              <a:rPr lang="fr-FR" dirty="0" smtClean="0"/>
              <a:t>              </a:t>
            </a:r>
            <a:r>
              <a:rPr lang="fr-FR" dirty="0" err="1" smtClean="0"/>
              <a:t>Supervising</a:t>
            </a:r>
            <a:r>
              <a:rPr lang="fr-FR" dirty="0" smtClean="0"/>
              <a:t> </a:t>
            </a:r>
            <a:r>
              <a:rPr lang="fr-FR" dirty="0" err="1" smtClean="0"/>
              <a:t>Professor</a:t>
            </a:r>
            <a:r>
              <a:rPr lang="fr-FR" dirty="0" smtClean="0"/>
              <a:t> :	 </a:t>
            </a:r>
            <a:r>
              <a:rPr lang="fr-FR" dirty="0" err="1" smtClean="0"/>
              <a:t>Bassem</a:t>
            </a:r>
            <a:r>
              <a:rPr lang="fr-FR" dirty="0" smtClean="0"/>
              <a:t> Ben Hamed              </a:t>
            </a:r>
          </a:p>
          <a:p>
            <a:r>
              <a:rPr lang="fr-FR" sz="1400" dirty="0" smtClean="0"/>
              <a:t>		</a:t>
            </a:r>
            <a:r>
              <a:rPr lang="fr-FR" sz="1400" dirty="0" err="1" smtClean="0"/>
              <a:t>Thanks</a:t>
            </a:r>
            <a:r>
              <a:rPr lang="fr-FR" sz="1400" dirty="0" smtClean="0"/>
              <a:t> to the </a:t>
            </a:r>
            <a:r>
              <a:rPr lang="fr-FR" sz="1400" dirty="0" err="1" smtClean="0"/>
              <a:t>hosting</a:t>
            </a:r>
            <a:r>
              <a:rPr lang="fr-FR" sz="1400" dirty="0" smtClean="0"/>
              <a:t> </a:t>
            </a:r>
            <a:r>
              <a:rPr lang="fr-FR" sz="1400" dirty="0" err="1" smtClean="0"/>
              <a:t>Lab</a:t>
            </a:r>
            <a:r>
              <a:rPr lang="fr-FR" sz="1400" dirty="0" smtClean="0"/>
              <a:t>:</a:t>
            </a:r>
            <a:endParaRPr lang="fr-FR" sz="1400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46915" y="5882805"/>
            <a:ext cx="3203848" cy="880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31763"/>
            <a:ext cx="23241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1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Table of content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 err="1" smtClean="0"/>
              <a:t>What</a:t>
            </a:r>
            <a:r>
              <a:rPr lang="fr-FR" dirty="0" smtClean="0"/>
              <a:t> are hyper –</a:t>
            </a:r>
            <a:r>
              <a:rPr lang="fr-FR" dirty="0" err="1" smtClean="0"/>
              <a:t>representations</a:t>
            </a:r>
            <a:endParaRPr lang="fr-FR" dirty="0" smtClean="0"/>
          </a:p>
          <a:p>
            <a:r>
              <a:rPr lang="fr-FR" dirty="0" err="1" smtClean="0"/>
              <a:t>Current</a:t>
            </a:r>
            <a:r>
              <a:rPr lang="fr-FR" dirty="0" smtClean="0"/>
              <a:t> </a:t>
            </a:r>
            <a:r>
              <a:rPr lang="fr-FR" dirty="0" err="1" smtClean="0"/>
              <a:t>Methodology</a:t>
            </a:r>
            <a:r>
              <a:rPr lang="fr-FR" dirty="0" smtClean="0"/>
              <a:t> </a:t>
            </a:r>
          </a:p>
          <a:p>
            <a:r>
              <a:rPr lang="fr-FR" dirty="0" err="1" smtClean="0"/>
              <a:t>Classical</a:t>
            </a:r>
            <a:r>
              <a:rPr lang="fr-FR" dirty="0" smtClean="0"/>
              <a:t> </a:t>
            </a:r>
            <a:r>
              <a:rPr lang="fr-FR" dirty="0" err="1" smtClean="0"/>
              <a:t>Topological</a:t>
            </a:r>
            <a:r>
              <a:rPr lang="fr-FR" dirty="0" smtClean="0"/>
              <a:t> Data </a:t>
            </a:r>
            <a:r>
              <a:rPr lang="fr-FR" dirty="0" err="1" smtClean="0"/>
              <a:t>Analysis</a:t>
            </a:r>
            <a:endParaRPr lang="fr-FR" dirty="0" smtClean="0"/>
          </a:p>
          <a:p>
            <a:r>
              <a:rPr lang="fr-FR" dirty="0" smtClean="0"/>
              <a:t>Optimal Transport relevance</a:t>
            </a:r>
          </a:p>
          <a:p>
            <a:r>
              <a:rPr lang="fr-FR" dirty="0" smtClean="0"/>
              <a:t>Multi </a:t>
            </a:r>
            <a:r>
              <a:rPr lang="fr-FR" dirty="0" err="1" smtClean="0"/>
              <a:t>parameter</a:t>
            </a:r>
            <a:r>
              <a:rPr lang="fr-FR" dirty="0" smtClean="0"/>
              <a:t> Persistent </a:t>
            </a:r>
            <a:r>
              <a:rPr lang="fr-FR" dirty="0" err="1" smtClean="0"/>
              <a:t>Homology</a:t>
            </a:r>
            <a:endParaRPr lang="fr-FR" dirty="0" smtClean="0"/>
          </a:p>
          <a:p>
            <a:r>
              <a:rPr lang="fr-FR" dirty="0" err="1" smtClean="0"/>
              <a:t>Loss</a:t>
            </a:r>
            <a:r>
              <a:rPr lang="fr-FR" dirty="0" smtClean="0"/>
              <a:t> </a:t>
            </a:r>
            <a:r>
              <a:rPr lang="fr-FR" dirty="0" err="1" smtClean="0"/>
              <a:t>Functions</a:t>
            </a:r>
            <a:r>
              <a:rPr lang="fr-FR" dirty="0" smtClean="0"/>
              <a:t> and </a:t>
            </a:r>
            <a:r>
              <a:rPr lang="fr-FR" dirty="0" err="1" smtClean="0"/>
              <a:t>effects</a:t>
            </a:r>
            <a:r>
              <a:rPr lang="fr-FR" dirty="0" smtClean="0"/>
              <a:t> on Training</a:t>
            </a:r>
          </a:p>
          <a:p>
            <a:pPr marL="0" indent="0">
              <a:buNone/>
            </a:pPr>
            <a:endParaRPr lang="fr-FR" dirty="0" smtClean="0"/>
          </a:p>
          <a:p>
            <a:r>
              <a:rPr lang="fr-FR" dirty="0" err="1" smtClean="0"/>
              <a:t>Other</a:t>
            </a:r>
            <a:r>
              <a:rPr lang="fr-FR" dirty="0" smtClean="0"/>
              <a:t> </a:t>
            </a:r>
            <a:r>
              <a:rPr lang="fr-FR" dirty="0" err="1" smtClean="0"/>
              <a:t>Approachs</a:t>
            </a:r>
            <a:r>
              <a:rPr lang="fr-FR" dirty="0" smtClean="0"/>
              <a:t>:</a:t>
            </a:r>
          </a:p>
          <a:p>
            <a:pPr lvl="1"/>
            <a:r>
              <a:rPr lang="fr-FR" dirty="0" err="1" smtClean="0"/>
              <a:t>Rnadom</a:t>
            </a:r>
            <a:r>
              <a:rPr lang="fr-FR" dirty="0" smtClean="0"/>
              <a:t> matrix </a:t>
            </a:r>
            <a:r>
              <a:rPr lang="fr-FR" dirty="0" err="1" smtClean="0"/>
              <a:t>Theory</a:t>
            </a:r>
            <a:endParaRPr lang="fr-FR" dirty="0" smtClean="0"/>
          </a:p>
          <a:p>
            <a:pPr lvl="1"/>
            <a:r>
              <a:rPr lang="fr-FR" dirty="0" smtClean="0"/>
              <a:t>Neural </a:t>
            </a:r>
            <a:r>
              <a:rPr lang="fr-FR" dirty="0" err="1" smtClean="0"/>
              <a:t>Tangeant</a:t>
            </a:r>
            <a:r>
              <a:rPr lang="fr-FR" dirty="0" smtClean="0"/>
              <a:t> </a:t>
            </a:r>
            <a:r>
              <a:rPr lang="fr-FR" dirty="0" err="1" smtClean="0"/>
              <a:t>Kernel</a:t>
            </a:r>
            <a:endParaRPr lang="fr-FR" dirty="0" smtClean="0"/>
          </a:p>
          <a:p>
            <a:pPr lvl="1"/>
            <a:r>
              <a:rPr lang="fr-FR" dirty="0" smtClean="0"/>
              <a:t>Fourrier </a:t>
            </a:r>
            <a:r>
              <a:rPr lang="fr-FR" dirty="0" err="1" smtClean="0"/>
              <a:t>analysis</a:t>
            </a:r>
            <a:r>
              <a:rPr lang="fr-FR" dirty="0" smtClean="0"/>
              <a:t> of gradients</a:t>
            </a:r>
          </a:p>
          <a:p>
            <a:pPr lvl="1"/>
            <a:r>
              <a:rPr lang="fr-FR" dirty="0" smtClean="0"/>
              <a:t>Time-</a:t>
            </a:r>
            <a:r>
              <a:rPr lang="fr-FR" dirty="0" err="1" smtClean="0"/>
              <a:t>series</a:t>
            </a:r>
            <a:r>
              <a:rPr lang="fr-FR" dirty="0" smtClean="0"/>
              <a:t> Segmentation</a:t>
            </a:r>
            <a:endParaRPr lang="fr-FR" dirty="0"/>
          </a:p>
          <a:p>
            <a:pPr lvl="1"/>
            <a:endParaRPr lang="fr-FR" dirty="0" smtClean="0"/>
          </a:p>
        </p:txBody>
      </p:sp>
      <p:pic>
        <p:nvPicPr>
          <p:cNvPr id="4" name="Espace réservé du contenu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083" y="509534"/>
            <a:ext cx="5184576" cy="263218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705" y="3206245"/>
            <a:ext cx="3945332" cy="330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4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are hyper –</a:t>
            </a:r>
            <a:r>
              <a:rPr lang="fr-FR" dirty="0" err="1"/>
              <a:t>representations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1218" y="1440702"/>
            <a:ext cx="7572556" cy="4842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324" y="1440702"/>
            <a:ext cx="4198458" cy="277131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838" y="4325467"/>
            <a:ext cx="3905429" cy="232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0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31878" y="948907"/>
            <a:ext cx="9917776" cy="4900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6681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9626" y="92022"/>
            <a:ext cx="10515600" cy="1325563"/>
          </a:xfrm>
        </p:spPr>
        <p:txBody>
          <a:bodyPr/>
          <a:lstStyle/>
          <a:p>
            <a:r>
              <a:rPr lang="fr-FR" dirty="0" err="1"/>
              <a:t>Current</a:t>
            </a:r>
            <a:r>
              <a:rPr lang="fr-FR" dirty="0"/>
              <a:t> </a:t>
            </a:r>
            <a:r>
              <a:rPr lang="fr-FR" dirty="0" err="1"/>
              <a:t>Methodology</a:t>
            </a:r>
            <a:r>
              <a:rPr lang="fr-FR" dirty="0"/>
              <a:t> </a:t>
            </a:r>
            <a:br>
              <a:rPr lang="fr-FR" dirty="0"/>
            </a:br>
            <a:endParaRPr lang="en-US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1490" y="927559"/>
            <a:ext cx="5464021" cy="2943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9029" y="3796276"/>
            <a:ext cx="7926241" cy="256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14"/>
          <p:cNvSpPr txBox="1"/>
          <p:nvPr/>
        </p:nvSpPr>
        <p:spPr>
          <a:xfrm>
            <a:off x="404996" y="4337044"/>
            <a:ext cx="4000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DIFFUSION-BASED NEURAL NETWORK</a:t>
            </a:r>
          </a:p>
          <a:p>
            <a:r>
              <a:rPr lang="en-US" sz="1200" dirty="0" smtClean="0"/>
              <a:t> WEIGHTS GENERATION ( </a:t>
            </a:r>
            <a:r>
              <a:rPr lang="en-US" sz="1200" dirty="0" err="1" smtClean="0"/>
              <a:t>Soro</a:t>
            </a:r>
            <a:r>
              <a:rPr lang="en-US" sz="1200" dirty="0" smtClean="0"/>
              <a:t> Bedionita1 2024)</a:t>
            </a:r>
            <a:endParaRPr lang="fr-FR" sz="1200" dirty="0"/>
          </a:p>
        </p:txBody>
      </p:sp>
      <p:sp>
        <p:nvSpPr>
          <p:cNvPr id="7" name="TextBox 15"/>
          <p:cNvSpPr txBox="1"/>
          <p:nvPr/>
        </p:nvSpPr>
        <p:spPr>
          <a:xfrm>
            <a:off x="4544310" y="6357212"/>
            <a:ext cx="313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(Konstantin </a:t>
            </a:r>
            <a:r>
              <a:rPr lang="fr-FR" dirty="0" err="1" smtClean="0"/>
              <a:t>Schurholt</a:t>
            </a:r>
            <a:r>
              <a:rPr lang="fr-FR" dirty="0" smtClean="0"/>
              <a:t> 2022)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647" y="927559"/>
            <a:ext cx="5931105" cy="230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2965" y="221993"/>
            <a:ext cx="9114555" cy="358004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081" y="3962978"/>
            <a:ext cx="4861560" cy="1447511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081" y="5410489"/>
            <a:ext cx="4861560" cy="1447511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993" y="5052363"/>
            <a:ext cx="3683297" cy="72125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962978"/>
            <a:ext cx="378164" cy="922976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5258243"/>
            <a:ext cx="451019" cy="1066045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520" y="4115378"/>
            <a:ext cx="378164" cy="922976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8278" y="4064285"/>
            <a:ext cx="418033" cy="98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98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478" y="960120"/>
            <a:ext cx="4731522" cy="470063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5366"/>
            <a:ext cx="7588242" cy="396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4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402" y="542254"/>
            <a:ext cx="10953683" cy="570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3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080" y="-30963"/>
            <a:ext cx="10515600" cy="1325563"/>
          </a:xfrm>
        </p:spPr>
        <p:txBody>
          <a:bodyPr/>
          <a:lstStyle/>
          <a:p>
            <a:r>
              <a:rPr lang="fr-FR" dirty="0" smtClean="0"/>
              <a:t>Pearson </a:t>
            </a:r>
            <a:r>
              <a:rPr lang="fr-FR" dirty="0" err="1" smtClean="0"/>
              <a:t>correlation</a:t>
            </a:r>
            <a:r>
              <a:rPr lang="fr-FR" dirty="0" smtClean="0"/>
              <a:t> for Dense layer </a:t>
            </a:r>
            <a:r>
              <a:rPr lang="fr-FR" dirty="0" err="1" smtClean="0"/>
              <a:t>weights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79" y="4102555"/>
            <a:ext cx="7222359" cy="2552125"/>
          </a:xfr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722" y="3995179"/>
            <a:ext cx="3193074" cy="2862821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1423254"/>
            <a:ext cx="2743198" cy="2516038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663" y="1442065"/>
            <a:ext cx="2974097" cy="2478415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280" y="1185993"/>
            <a:ext cx="3303958" cy="275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51" y="744899"/>
            <a:ext cx="3281763" cy="298319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690" y="674911"/>
            <a:ext cx="3608098" cy="300674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990" y="3852090"/>
            <a:ext cx="3439778" cy="275182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860" y="744899"/>
            <a:ext cx="3524112" cy="2936761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12" y="3816597"/>
            <a:ext cx="3732962" cy="298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9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920" y="0"/>
            <a:ext cx="10515600" cy="1325563"/>
          </a:xfrm>
        </p:spPr>
        <p:txBody>
          <a:bodyPr/>
          <a:lstStyle/>
          <a:p>
            <a:r>
              <a:rPr lang="fr-FR" dirty="0" err="1"/>
              <a:t>Classical</a:t>
            </a:r>
            <a:r>
              <a:rPr lang="fr-FR" dirty="0"/>
              <a:t> </a:t>
            </a:r>
            <a:r>
              <a:rPr lang="fr-FR" dirty="0" err="1"/>
              <a:t>Topological</a:t>
            </a:r>
            <a:r>
              <a:rPr lang="fr-FR" dirty="0"/>
              <a:t> Data </a:t>
            </a:r>
            <a:r>
              <a:rPr lang="fr-FR" dirty="0" err="1"/>
              <a:t>Analysis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81" y="792479"/>
            <a:ext cx="6942662" cy="227076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104" y="1325563"/>
            <a:ext cx="4990157" cy="526564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" y="3337560"/>
            <a:ext cx="7156114" cy="336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6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Mapper </a:t>
            </a:r>
            <a:r>
              <a:rPr lang="fr-FR" dirty="0" err="1" smtClean="0"/>
              <a:t>algorithm</a:t>
            </a:r>
            <a:r>
              <a:rPr lang="fr-FR" dirty="0" smtClean="0"/>
              <a:t> 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10385"/>
            <a:ext cx="4466796" cy="435133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307403"/>
            <a:ext cx="5938837" cy="388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442" y="0"/>
            <a:ext cx="5028845" cy="257603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82664"/>
            <a:ext cx="4304346" cy="407533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640" y="440945"/>
            <a:ext cx="6070282" cy="23417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1640" y="3117944"/>
            <a:ext cx="5933122" cy="1984764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5501640" y="5657671"/>
            <a:ext cx="24506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(1)Persistance </a:t>
            </a:r>
            <a:r>
              <a:rPr lang="fr-FR" dirty="0" err="1" smtClean="0"/>
              <a:t>Diagrams</a:t>
            </a:r>
            <a:endParaRPr lang="fr-FR" dirty="0" smtClean="0"/>
          </a:p>
          <a:p>
            <a:r>
              <a:rPr lang="fr-FR" dirty="0" smtClean="0"/>
              <a:t>(2)</a:t>
            </a:r>
            <a:r>
              <a:rPr lang="fr-FR" dirty="0" err="1" smtClean="0"/>
              <a:t>Barcode</a:t>
            </a:r>
            <a:r>
              <a:rPr lang="fr-FR" dirty="0" smtClean="0"/>
              <a:t> </a:t>
            </a:r>
            <a:r>
              <a:rPr lang="fr-FR" dirty="0" err="1" smtClean="0"/>
              <a:t>diagrams</a:t>
            </a:r>
            <a:endParaRPr lang="fr-FR" dirty="0" smtClean="0"/>
          </a:p>
          <a:p>
            <a:r>
              <a:rPr lang="fr-FR" dirty="0" smtClean="0"/>
              <a:t>(3)</a:t>
            </a:r>
            <a:r>
              <a:rPr lang="fr-FR" dirty="0" err="1" smtClean="0"/>
              <a:t>Peristance</a:t>
            </a:r>
            <a:r>
              <a:rPr lang="fr-FR" dirty="0" smtClean="0"/>
              <a:t> </a:t>
            </a:r>
            <a:r>
              <a:rPr lang="fr-FR" dirty="0" err="1" smtClean="0"/>
              <a:t>Landscape</a:t>
            </a:r>
            <a:endParaRPr lang="fr-FR" dirty="0" smtClean="0"/>
          </a:p>
          <a:p>
            <a:r>
              <a:rPr lang="fr-FR" dirty="0" smtClean="0"/>
              <a:t>(4)Contour </a:t>
            </a:r>
            <a:r>
              <a:rPr lang="fr-FR" dirty="0" err="1" smtClean="0"/>
              <a:t>Trees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01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Multi </a:t>
            </a:r>
            <a:r>
              <a:rPr lang="fr-FR" dirty="0" err="1"/>
              <a:t>parameter</a:t>
            </a:r>
            <a:r>
              <a:rPr lang="fr-FR" dirty="0"/>
              <a:t> Persistent </a:t>
            </a:r>
            <a:r>
              <a:rPr lang="fr-FR" dirty="0" err="1"/>
              <a:t>Homology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945" y="1219835"/>
            <a:ext cx="5579550" cy="494188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288" y="1027906"/>
            <a:ext cx="4636527" cy="285180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288" y="3859331"/>
            <a:ext cx="3522345" cy="299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4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8160" y="0"/>
            <a:ext cx="10515600" cy="1325563"/>
          </a:xfrm>
        </p:spPr>
        <p:txBody>
          <a:bodyPr/>
          <a:lstStyle/>
          <a:p>
            <a:r>
              <a:rPr lang="fr-FR" dirty="0"/>
              <a:t>Optimal Transport relevance</a:t>
            </a:r>
            <a:br>
              <a:rPr lang="fr-FR" dirty="0"/>
            </a:b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160" y="525621"/>
            <a:ext cx="10515600" cy="312860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480" y="3509828"/>
            <a:ext cx="5836920" cy="334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7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Approachs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1067" y="47732"/>
            <a:ext cx="4786223" cy="5340201"/>
          </a:xfrm>
        </p:spPr>
        <p:txBody>
          <a:bodyPr/>
          <a:lstStyle/>
          <a:p>
            <a:r>
              <a:rPr lang="fr-FR" dirty="0"/>
              <a:t>Time-</a:t>
            </a:r>
            <a:r>
              <a:rPr lang="fr-FR" dirty="0" err="1"/>
              <a:t>series</a:t>
            </a:r>
            <a:r>
              <a:rPr lang="fr-FR" dirty="0"/>
              <a:t> </a:t>
            </a:r>
            <a:r>
              <a:rPr lang="fr-FR" dirty="0" smtClean="0"/>
              <a:t>Segmentation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r>
              <a:rPr lang="fr-FR" dirty="0" smtClean="0"/>
              <a:t>Fourrier </a:t>
            </a:r>
            <a:r>
              <a:rPr lang="fr-FR" dirty="0" err="1"/>
              <a:t>analysis</a:t>
            </a:r>
            <a:r>
              <a:rPr lang="fr-FR" dirty="0"/>
              <a:t> of gradients</a:t>
            </a:r>
            <a:endParaRPr lang="en-US" dirty="0"/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7056620" y="-2041145"/>
            <a:ext cx="4786223" cy="5340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err="1"/>
              <a:t>Rnadom</a:t>
            </a:r>
            <a:r>
              <a:rPr lang="fr-FR" dirty="0"/>
              <a:t> matrix </a:t>
            </a:r>
            <a:r>
              <a:rPr lang="fr-FR" dirty="0" err="1" smtClean="0"/>
              <a:t>Theory</a:t>
            </a:r>
            <a:r>
              <a:rPr lang="fr-FR" dirty="0" smtClean="0"/>
              <a:t> </a:t>
            </a:r>
          </a:p>
          <a:p>
            <a:pPr marL="0" indent="0">
              <a:buNone/>
            </a:pPr>
            <a:r>
              <a:rPr lang="fr-FR" dirty="0"/>
              <a:t>Neural </a:t>
            </a:r>
            <a:r>
              <a:rPr lang="fr-FR" dirty="0" err="1"/>
              <a:t>Tangeant</a:t>
            </a:r>
            <a:r>
              <a:rPr lang="fr-FR" dirty="0"/>
              <a:t> </a:t>
            </a:r>
            <a:r>
              <a:rPr lang="fr-FR" dirty="0" err="1"/>
              <a:t>Kernel</a:t>
            </a:r>
            <a:endParaRPr lang="fr-FR" dirty="0"/>
          </a:p>
          <a:p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0" y="519629"/>
            <a:ext cx="6595182" cy="262492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21" y="3144552"/>
            <a:ext cx="3036982" cy="163807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351" y="5155408"/>
            <a:ext cx="2431653" cy="156757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5344" y="1690688"/>
            <a:ext cx="5359610" cy="242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4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0" lvl="6" indent="0">
              <a:buNone/>
            </a:pPr>
            <a:endParaRPr lang="fr-FR" dirty="0" smtClean="0"/>
          </a:p>
          <a:p>
            <a:pPr marL="2743200" lvl="6" indent="0">
              <a:buNone/>
            </a:pPr>
            <a:endParaRPr lang="fr-FR" dirty="0"/>
          </a:p>
          <a:p>
            <a:pPr marL="2743200" lvl="6" indent="0">
              <a:buNone/>
            </a:pPr>
            <a:endParaRPr lang="fr-FR" dirty="0" smtClean="0"/>
          </a:p>
          <a:p>
            <a:pPr marL="2743200" lvl="6" indent="0">
              <a:buNone/>
            </a:pPr>
            <a:endParaRPr lang="fr-FR" dirty="0"/>
          </a:p>
          <a:p>
            <a:pPr marL="2743200" lvl="6" indent="0">
              <a:buNone/>
            </a:pPr>
            <a:endParaRPr lang="fr-FR" dirty="0" smtClean="0"/>
          </a:p>
          <a:p>
            <a:pPr marL="2743200" lvl="6" indent="0">
              <a:buNone/>
            </a:pPr>
            <a:r>
              <a:rPr lang="fr-FR" sz="2800" dirty="0" err="1" smtClean="0"/>
              <a:t>Thank</a:t>
            </a:r>
            <a:r>
              <a:rPr lang="fr-FR" sz="2800" dirty="0" smtClean="0"/>
              <a:t> You for </a:t>
            </a:r>
            <a:r>
              <a:rPr lang="fr-FR" sz="2800" dirty="0" err="1" smtClean="0"/>
              <a:t>your</a:t>
            </a:r>
            <a:r>
              <a:rPr lang="fr-FR" sz="2800" dirty="0" smtClean="0"/>
              <a:t> attention </a:t>
            </a:r>
          </a:p>
          <a:p>
            <a:pPr marL="2743200" lvl="6" indent="0">
              <a:buNone/>
            </a:pPr>
            <a:r>
              <a:rPr lang="fr-FR" sz="2800" dirty="0"/>
              <a:t> </a:t>
            </a:r>
            <a:r>
              <a:rPr lang="fr-FR" sz="2800" dirty="0" smtClean="0"/>
              <a:t> and Ramadhan </a:t>
            </a:r>
            <a:r>
              <a:rPr lang="fr-FR" sz="2800" dirty="0" err="1" smtClean="0"/>
              <a:t>Mubarak</a:t>
            </a:r>
            <a:r>
              <a:rPr lang="fr-FR" sz="2800" dirty="0" smtClean="0"/>
              <a:t>  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4683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10515600" cy="1325563"/>
          </a:xfrm>
        </p:spPr>
        <p:txBody>
          <a:bodyPr/>
          <a:lstStyle/>
          <a:p>
            <a:r>
              <a:rPr lang="fr-FR" dirty="0" err="1" smtClean="0"/>
              <a:t>Refrences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25880"/>
            <a:ext cx="10896600" cy="485108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Y. </a:t>
            </a:r>
            <a:r>
              <a:rPr lang="en-US" dirty="0" err="1"/>
              <a:t>Brenier</a:t>
            </a:r>
            <a:r>
              <a:rPr lang="en-US" dirty="0"/>
              <a:t>, “Polar factorization and monotone rearrangement of vector-valued functions”, Communications on Pure and Applied Mathematics, vol. 44, no. 4, pp. 375-417, Jun. 1991, </a:t>
            </a:r>
            <a:r>
              <a:rPr lang="en-US" dirty="0" err="1"/>
              <a:t>IsSN</a:t>
            </a:r>
            <a:r>
              <a:rPr lang="en-US" dirty="0"/>
              <a:t>: 0010-3640, 1097-0312. DOT: </a:t>
            </a:r>
            <a:r>
              <a:rPr lang="en-US" dirty="0" smtClean="0"/>
              <a:t>10.1002/</a:t>
            </a:r>
            <a:r>
              <a:rPr lang="en-US" dirty="0" err="1" smtClean="0"/>
              <a:t>cpa</a:t>
            </a:r>
            <a:r>
              <a:rPr lang="en-US" dirty="0" smtClean="0"/>
              <a:t>. </a:t>
            </a:r>
            <a:r>
              <a:rPr lang="en-US" dirty="0"/>
              <a:t>3160440402 </a:t>
            </a:r>
            <a:endParaRPr lang="en-US" dirty="0" smtClean="0"/>
          </a:p>
          <a:p>
            <a:r>
              <a:rPr lang="en-US" dirty="0"/>
              <a:t>G. </a:t>
            </a:r>
            <a:r>
              <a:rPr lang="en-US" dirty="0" err="1"/>
              <a:t>Carlsson</a:t>
            </a:r>
            <a:r>
              <a:rPr lang="en-US" dirty="0"/>
              <a:t> and R. B. </a:t>
            </a:r>
            <a:r>
              <a:rPr lang="en-US" dirty="0" err="1"/>
              <a:t>Gabrielsson</a:t>
            </a:r>
            <a:r>
              <a:rPr lang="en-US" dirty="0"/>
              <a:t>, Topological Approaches to Deep Learning, Nov. 2018. DOT: 10.48550/arXiv.1811.01122 </a:t>
            </a:r>
            <a:r>
              <a:rPr lang="en-US" dirty="0" err="1"/>
              <a:t>arXiv</a:t>
            </a:r>
            <a:r>
              <a:rPr lang="en-US" dirty="0"/>
              <a:t>: 1811.01122 [</a:t>
            </a:r>
            <a:r>
              <a:rPr lang="en-US" dirty="0" err="1"/>
              <a:t>cs</a:t>
            </a:r>
            <a:r>
              <a:rPr lang="en-US" dirty="0"/>
              <a:t>]. Accessed: Nov. 24,2025. </a:t>
            </a:r>
            <a:endParaRPr lang="en-US" dirty="0" smtClean="0"/>
          </a:p>
          <a:p>
            <a:r>
              <a:rPr lang="en-US" dirty="0" err="1"/>
              <a:t>C.Chen</a:t>
            </a:r>
            <a:r>
              <a:rPr lang="en-US" dirty="0"/>
              <a:t>, X. Ni, Q. </a:t>
            </a:r>
            <a:r>
              <a:rPr lang="en-US" dirty="0" err="1"/>
              <a:t>Bai</a:t>
            </a:r>
            <a:r>
              <a:rPr lang="en-US" dirty="0"/>
              <a:t>, and Y. Wang, A Topological </a:t>
            </a:r>
            <a:r>
              <a:rPr lang="en-US" dirty="0" err="1"/>
              <a:t>Regularizer</a:t>
            </a:r>
            <a:r>
              <a:rPr lang="en-US" dirty="0"/>
              <a:t> for Classifiers via Persistent Homology, Oct. 2018. DOI: 10.48550/arXiv.1806.10714 </a:t>
            </a:r>
            <a:r>
              <a:rPr lang="en-US" dirty="0" err="1"/>
              <a:t>arXiv</a:t>
            </a:r>
            <a:r>
              <a:rPr lang="en-US" dirty="0"/>
              <a:t>: 1806.10714 [</a:t>
            </a:r>
            <a:r>
              <a:rPr lang="en-US" dirty="0" err="1"/>
              <a:t>cs</a:t>
            </a:r>
            <a:r>
              <a:rPr lang="en-US" dirty="0" smtClean="0"/>
              <a:t>].</a:t>
            </a:r>
          </a:p>
          <a:p>
            <a:r>
              <a:rPr lang="en-US" dirty="0"/>
              <a:t>B </a:t>
            </a:r>
            <a:r>
              <a:rPr lang="en-US" dirty="0" err="1"/>
              <a:t>Rieck</a:t>
            </a:r>
            <a:r>
              <a:rPr lang="en-US" dirty="0"/>
              <a:t> et al., “Neural Persistence: A Complexity Measure for Deep Neural Networks Using Algebraic Topology”, in International Conference on Learning Representations, Sep. 2018. Accessed: Nov. 16, 2025. </a:t>
            </a:r>
            <a:endParaRPr lang="en-US" dirty="0" smtClean="0"/>
          </a:p>
          <a:p>
            <a:r>
              <a:rPr lang="en-US" dirty="0"/>
              <a:t>D. </a:t>
            </a:r>
            <a:r>
              <a:rPr lang="en-US" dirty="0" err="1"/>
              <a:t>Loiscaux</a:t>
            </a:r>
            <a:r>
              <a:rPr lang="en-US" dirty="0"/>
              <a:t>, L. </a:t>
            </a:r>
            <a:r>
              <a:rPr lang="en-US" dirty="0" err="1"/>
              <a:t>Scoccola</a:t>
            </a:r>
            <a:r>
              <a:rPr lang="en-US" dirty="0"/>
              <a:t>, M. </a:t>
            </a:r>
            <a:r>
              <a:rPr lang="en-US" dirty="0" err="1"/>
              <a:t>Carrire</a:t>
            </a:r>
            <a:r>
              <a:rPr lang="en-US" dirty="0"/>
              <a:t>, M. B. </a:t>
            </a:r>
            <a:r>
              <a:rPr lang="en-US" dirty="0" err="1"/>
              <a:t>Botnan</a:t>
            </a:r>
            <a:r>
              <a:rPr lang="en-US" dirty="0"/>
              <a:t>, and S. </a:t>
            </a:r>
            <a:r>
              <a:rPr lang="en-US" dirty="0" err="1"/>
              <a:t>Oudot</a:t>
            </a:r>
            <a:r>
              <a:rPr lang="en-US" dirty="0"/>
              <a:t>, Stable </a:t>
            </a:r>
            <a:r>
              <a:rPr lang="en-US" dirty="0" err="1"/>
              <a:t>Vectorization</a:t>
            </a:r>
            <a:r>
              <a:rPr lang="en-US" dirty="0"/>
              <a:t> of </a:t>
            </a:r>
            <a:r>
              <a:rPr lang="en-US" dirty="0" err="1"/>
              <a:t>Multiparameter</a:t>
            </a:r>
            <a:r>
              <a:rPr lang="en-US" dirty="0"/>
              <a:t> Persistent Homology using Signed Barcodes as Measures, Comment: 26 pages, 4 figures, 9 tables; v2: final version in </a:t>
            </a:r>
            <a:r>
              <a:rPr lang="en-US" dirty="0" err="1"/>
              <a:t>NeurIP</a:t>
            </a:r>
            <a:r>
              <a:rPr lang="en-US" dirty="0"/>
              <a:t>$ 2023, Feb. 2024. DOI: 10.48550/arXiv.2306.03801 </a:t>
            </a:r>
            <a:r>
              <a:rPr lang="en-US" dirty="0" err="1"/>
              <a:t>arXiv</a:t>
            </a:r>
            <a:r>
              <a:rPr lang="en-US" dirty="0"/>
              <a:t>: 2306.03801 [</a:t>
            </a:r>
            <a:r>
              <a:rPr lang="en-US" dirty="0" err="1"/>
              <a:t>cs</a:t>
            </a:r>
            <a:r>
              <a:rPr lang="en-US" dirty="0"/>
              <a:t>]. Accessed: Nov. 16, 2025. </a:t>
            </a:r>
            <a:endParaRPr lang="en-US" dirty="0" smtClean="0"/>
          </a:p>
          <a:p>
            <a:r>
              <a:rPr lang="en-US" dirty="0"/>
              <a:t>Optimal Transport - Weak Solutions of </a:t>
            </a:r>
            <a:r>
              <a:rPr lang="en-US" dirty="0" err="1"/>
              <a:t>Monge</a:t>
            </a:r>
            <a:r>
              <a:rPr lang="en-US" dirty="0"/>
              <a:t>-Ampere - YouTube, </a:t>
            </a:r>
            <a:r>
              <a:rPr lang="en-US" dirty="0" err="1"/>
              <a:t>htps</a:t>
            </a:r>
            <a:r>
              <a:rPr lang="en-US" dirty="0"/>
              <a:t>:/ /www.youtube.com/</a:t>
            </a:r>
            <a:r>
              <a:rPr lang="en-US" dirty="0" err="1"/>
              <a:t>watch?v</a:t>
            </a:r>
            <a:r>
              <a:rPr lang="en-US" dirty="0"/>
              <a:t>=</a:t>
            </a:r>
            <a:r>
              <a:rPr lang="en-US" dirty="0" err="1"/>
              <a:t>mmpyxStCoqUélist</a:t>
            </a:r>
            <a:r>
              <a:rPr lang="en-US" dirty="0"/>
              <a:t>=PLI6garKOIK2qKVhRm6UwveQ46wK- </a:t>
            </a:r>
            <a:r>
              <a:rPr lang="en-US" dirty="0" err="1"/>
              <a:t>ciHbl&amp;index</a:t>
            </a:r>
            <a:r>
              <a:rPr lang="en-US" dirty="0"/>
              <a:t>=13,</a:t>
            </a:r>
          </a:p>
        </p:txBody>
      </p:sp>
    </p:spTree>
    <p:extLst>
      <p:ext uri="{BB962C8B-B14F-4D97-AF65-F5344CB8AC3E}">
        <p14:creationId xmlns:p14="http://schemas.microsoft.com/office/powerpoint/2010/main" val="213751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502920"/>
            <a:ext cx="10515600" cy="567404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R.B. </a:t>
            </a:r>
            <a:r>
              <a:rPr lang="en-US" dirty="0" err="1"/>
              <a:t>Gabrielsson</a:t>
            </a:r>
            <a:r>
              <a:rPr lang="en-US" dirty="0"/>
              <a:t> and G. </a:t>
            </a:r>
            <a:r>
              <a:rPr lang="en-US" dirty="0" err="1"/>
              <a:t>Carlsson</a:t>
            </a:r>
            <a:r>
              <a:rPr lang="en-US" dirty="0"/>
              <a:t>, Exposition and Interpretation of the Topology of Neural Networks, Oct. 2019. DOI: 10.48550/arXiv.1810.03234 </a:t>
            </a:r>
            <a:r>
              <a:rPr lang="en-US" dirty="0" err="1"/>
              <a:t>arXiv</a:t>
            </a:r>
            <a:r>
              <a:rPr lang="en-US" dirty="0"/>
              <a:t>: 1810.03234 [</a:t>
            </a:r>
            <a:r>
              <a:rPr lang="en-US" dirty="0" err="1"/>
              <a:t>cs</a:t>
            </a:r>
            <a:r>
              <a:rPr lang="en-US" dirty="0"/>
              <a:t>]. Accessed: Sep. 20, 2024. </a:t>
            </a:r>
            <a:endParaRPr lang="en-US" dirty="0" smtClean="0"/>
          </a:p>
          <a:p>
            <a:r>
              <a:rPr lang="en-US" dirty="0"/>
              <a:t>G. </a:t>
            </a:r>
            <a:r>
              <a:rPr lang="en-US" dirty="0" err="1"/>
              <a:t>Naitzat</a:t>
            </a:r>
            <a:r>
              <a:rPr lang="en-US" dirty="0"/>
              <a:t>, A. </a:t>
            </a:r>
            <a:r>
              <a:rPr lang="en-US" dirty="0" err="1"/>
              <a:t>Zhitnikov</a:t>
            </a:r>
            <a:r>
              <a:rPr lang="en-US" dirty="0"/>
              <a:t>, and L.-H. Lim, Topology of deep neural networks, Comment: 34 pages, 22 figures, Apr. 2020. DOI: 10.48550/arXiv.2004.06093 </a:t>
            </a:r>
            <a:r>
              <a:rPr lang="en-US" dirty="0" err="1"/>
              <a:t>arXiv</a:t>
            </a:r>
            <a:r>
              <a:rPr lang="en-US" dirty="0"/>
              <a:t>: 2004.06093 [</a:t>
            </a:r>
            <a:r>
              <a:rPr lang="en-US" dirty="0" err="1"/>
              <a:t>cs</a:t>
            </a:r>
            <a:r>
              <a:rPr lang="en-US" dirty="0"/>
              <a:t>]. </a:t>
            </a:r>
            <a:endParaRPr lang="en-US" dirty="0" smtClean="0"/>
          </a:p>
          <a:p>
            <a:r>
              <a:rPr lang="en-US" dirty="0"/>
              <a:t>M. </a:t>
            </a:r>
            <a:r>
              <a:rPr lang="en-US" dirty="0" err="1"/>
              <a:t>Gabella</a:t>
            </a:r>
            <a:r>
              <a:rPr lang="en-US" dirty="0"/>
              <a:t>, “Topology of Learning in </a:t>
            </a:r>
            <a:r>
              <a:rPr lang="en-US" dirty="0" err="1"/>
              <a:t>Feedforward</a:t>
            </a:r>
            <a:r>
              <a:rPr lang="en-US" dirty="0"/>
              <a:t> Neural Networks”, IEEE Transactions on Neural Networks and Learning Systems, vol. 32, no. 8, </a:t>
            </a:r>
            <a:r>
              <a:rPr lang="en-US" dirty="0" err="1"/>
              <a:t>PPp</a:t>
            </a:r>
            <a:r>
              <a:rPr lang="en-US" dirty="0"/>
              <a:t>. 3588-3592, Aug. 2021, ISSN: 2162-2388. DOI: 10.1109/TNNLS.2020.3015790 </a:t>
            </a:r>
            <a:endParaRPr lang="en-US" dirty="0" smtClean="0"/>
          </a:p>
          <a:p>
            <a:r>
              <a:rPr lang="en-US" dirty="0"/>
              <a:t>Stanford Online, Stanford CS224N NLP with Deep Learning | Winter 2021 | Lecture 9 - Self- Attention and Transformers, Oct. 2021</a:t>
            </a:r>
            <a:r>
              <a:rPr lang="en-US" dirty="0" smtClean="0"/>
              <a:t>.</a:t>
            </a:r>
          </a:p>
          <a:p>
            <a:r>
              <a:rPr lang="en-US" dirty="0"/>
              <a:t>S. Zhou, E. </a:t>
            </a:r>
            <a:r>
              <a:rPr lang="en-US" dirty="0" err="1"/>
              <a:t>Zelikman</a:t>
            </a:r>
            <a:r>
              <a:rPr lang="en-US" dirty="0"/>
              <a:t>, F. Lu, A. Y. Ng, G. </a:t>
            </a:r>
            <a:r>
              <a:rPr lang="en-US" dirty="0" err="1"/>
              <a:t>Carlsson</a:t>
            </a:r>
            <a:r>
              <a:rPr lang="en-US" dirty="0"/>
              <a:t>, and S. </a:t>
            </a:r>
            <a:r>
              <a:rPr lang="en-US" dirty="0" err="1"/>
              <a:t>Ermon</a:t>
            </a:r>
            <a:r>
              <a:rPr lang="en-US" dirty="0"/>
              <a:t>, Evaluating the Disentanglement of Deep Generative Models through Manifold Topology, Mar. 2021</a:t>
            </a:r>
            <a:r>
              <a:rPr lang="en-US" dirty="0" smtClean="0"/>
              <a:t>.</a:t>
            </a:r>
          </a:p>
          <a:p>
            <a:r>
              <a:rPr lang="en-US" dirty="0"/>
              <a:t>D. </a:t>
            </a:r>
            <a:r>
              <a:rPr lang="en-US" dirty="0" err="1"/>
              <a:t>Loiseaux</a:t>
            </a:r>
            <a:r>
              <a:rPr lang="en-US" dirty="0"/>
              <a:t>, L. </a:t>
            </a:r>
            <a:r>
              <a:rPr lang="en-US" dirty="0" err="1"/>
              <a:t>Scoccola</a:t>
            </a:r>
            <a:r>
              <a:rPr lang="en-US" dirty="0"/>
              <a:t>, M. </a:t>
            </a:r>
            <a:r>
              <a:rPr lang="en-US" dirty="0" err="1"/>
              <a:t>Carriére</a:t>
            </a:r>
            <a:r>
              <a:rPr lang="en-US" dirty="0"/>
              <a:t>, M. B. </a:t>
            </a:r>
            <a:r>
              <a:rPr lang="en-US" dirty="0" err="1"/>
              <a:t>Botnan</a:t>
            </a:r>
            <a:r>
              <a:rPr lang="en-US" dirty="0"/>
              <a:t>, and S. </a:t>
            </a:r>
            <a:r>
              <a:rPr lang="en-US" dirty="0" err="1"/>
              <a:t>Oudot</a:t>
            </a:r>
            <a:r>
              <a:rPr lang="en-US" dirty="0"/>
              <a:t>, “Stable </a:t>
            </a:r>
            <a:r>
              <a:rPr lang="en-US" dirty="0" err="1"/>
              <a:t>Vectorization</a:t>
            </a:r>
            <a:r>
              <a:rPr lang="en-US" dirty="0"/>
              <a:t> of </a:t>
            </a:r>
            <a:r>
              <a:rPr lang="en-US" dirty="0" err="1"/>
              <a:t>Multiparameter</a:t>
            </a:r>
            <a:r>
              <a:rPr lang="en-US" dirty="0"/>
              <a:t> Persistent Homology using Signed Barcodes as Measures”,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251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326</TotalTime>
  <Words>639</Words>
  <Application>Microsoft Office PowerPoint</Application>
  <PresentationFormat>Grand écran</PresentationFormat>
  <Paragraphs>78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Hyper representations for  Effecient Continual Learning</vt:lpstr>
      <vt:lpstr>Table of content </vt:lpstr>
      <vt:lpstr>What are hyper –representations </vt:lpstr>
      <vt:lpstr>Présentation PowerPoint</vt:lpstr>
      <vt:lpstr>Current Methodology  </vt:lpstr>
      <vt:lpstr>Présentation PowerPoint</vt:lpstr>
      <vt:lpstr>Présentation PowerPoint</vt:lpstr>
      <vt:lpstr>Présentation PowerPoint</vt:lpstr>
      <vt:lpstr>Pearson correlation for Dense layer weights</vt:lpstr>
      <vt:lpstr>Présentation PowerPoint</vt:lpstr>
      <vt:lpstr>Classical Topological Data Analysis </vt:lpstr>
      <vt:lpstr>Mapper algorithm </vt:lpstr>
      <vt:lpstr>Présentation PowerPoint</vt:lpstr>
      <vt:lpstr>Multi parameter Persistent Homology </vt:lpstr>
      <vt:lpstr>Optimal Transport relevance </vt:lpstr>
      <vt:lpstr>Other Approachs:     </vt:lpstr>
      <vt:lpstr>Présentation PowerPoint</vt:lpstr>
      <vt:lpstr>Refrences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 representations for  Effecient Continual Learning</dc:title>
  <dc:creator>Aymen</dc:creator>
  <cp:lastModifiedBy>Aymen</cp:lastModifiedBy>
  <cp:revision>13</cp:revision>
  <dcterms:created xsi:type="dcterms:W3CDTF">2026-02-28T07:26:24Z</dcterms:created>
  <dcterms:modified xsi:type="dcterms:W3CDTF">2026-02-28T12:54:36Z</dcterms:modified>
</cp:coreProperties>
</file>