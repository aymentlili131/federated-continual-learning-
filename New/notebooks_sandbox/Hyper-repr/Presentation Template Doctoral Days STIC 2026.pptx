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73" r:id="rId13"/>
    <p:sldId id="266" r:id="rId14"/>
    <p:sldId id="267" r:id="rId15"/>
    <p:sldId id="268" r:id="rId16"/>
    <p:sldId id="269" r:id="rId17"/>
    <p:sldId id="270" r:id="rId18"/>
    <p:sldId id="271" r:id="rId19"/>
  </p:sldIdLst>
  <p:sldSz cx="18288000" cy="10287000"/>
  <p:notesSz cx="6858000" cy="9144000"/>
  <p:embeddedFontLst>
    <p:embeddedFont>
      <p:font typeface="Arimo Bold" panose="020B0604020202020204" charset="0"/>
      <p:regular r:id="rId21"/>
    </p:embeddedFont>
    <p:embeddedFont>
      <p:font typeface="Canva Sans" panose="020B0604020202020204" charset="0"/>
      <p:regular r:id="rId22"/>
    </p:embeddedFont>
    <p:embeddedFont>
      <p:font typeface="Codec Pro ExtraBold" panose="020B0604020202020204" charset="0"/>
      <p:regular r:id="rId23"/>
    </p:embeddedFont>
    <p:embeddedFont>
      <p:font typeface="TT Fors Bold" panose="020B060402020202020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TT Fors" panose="020B0604020202020204" charset="0"/>
      <p:regular r:id="rId29"/>
    </p:embeddedFont>
    <p:embeddedFont>
      <p:font typeface="Canva Sans Bold" panose="020B0604020202020204" charset="0"/>
      <p:regular r:id="rId30"/>
    </p:embeddedFont>
    <p:embeddedFont>
      <p:font typeface="Arimo" panose="020B0604020202020204" charset="0"/>
      <p:regular r:id="rId31"/>
    </p:embeddedFont>
    <p:embeddedFont>
      <p:font typeface="Open Sans" panose="020B0604020202020204" charset="0"/>
      <p:regular r:id="rId32"/>
    </p:embeddedFont>
    <p:embeddedFont>
      <p:font typeface="DM Sans 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22" autoAdjust="0"/>
  </p:normalViewPr>
  <p:slideViewPr>
    <p:cSldViewPr>
      <p:cViewPr varScale="1">
        <p:scale>
          <a:sx n="59" d="100"/>
          <a:sy n="59" d="100"/>
        </p:scale>
        <p:origin x="31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87160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72770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10910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21173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0282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84615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46426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05225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52634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36027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400247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93129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0783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55578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36468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9.svg"/><Relationship Id="rId3" Type="http://schemas.openxmlformats.org/officeDocument/2006/relationships/image" Target="../media/image1.jpeg"/><Relationship Id="rId7" Type="http://schemas.openxmlformats.org/officeDocument/2006/relationships/image" Target="../media/image13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13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5.svg"/><Relationship Id="rId1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2.svg"/><Relationship Id="rId18" Type="http://schemas.openxmlformats.org/officeDocument/2006/relationships/image" Target="../media/image38.png"/><Relationship Id="rId3" Type="http://schemas.openxmlformats.org/officeDocument/2006/relationships/image" Target="../media/image30.png"/><Relationship Id="rId21" Type="http://schemas.openxmlformats.org/officeDocument/2006/relationships/image" Target="../media/image40.svg"/><Relationship Id="rId7" Type="http://schemas.openxmlformats.org/officeDocument/2006/relationships/image" Target="../media/image26.svg"/><Relationship Id="rId12" Type="http://schemas.openxmlformats.org/officeDocument/2006/relationships/image" Target="../media/image35.png"/><Relationship Id="rId17" Type="http://schemas.openxmlformats.org/officeDocument/2006/relationships/image" Target="../media/image36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7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5" Type="http://schemas.openxmlformats.org/officeDocument/2006/relationships/image" Target="../media/image34.svg"/><Relationship Id="rId23" Type="http://schemas.openxmlformats.org/officeDocument/2006/relationships/image" Target="../media/image42.svg"/><Relationship Id="rId10" Type="http://schemas.openxmlformats.org/officeDocument/2006/relationships/image" Target="../media/image34.png"/><Relationship Id="rId19" Type="http://schemas.openxmlformats.org/officeDocument/2006/relationships/image" Target="../media/image38.svg"/><Relationship Id="rId4" Type="http://schemas.openxmlformats.org/officeDocument/2006/relationships/image" Target="../media/image31.png"/><Relationship Id="rId9" Type="http://schemas.openxmlformats.org/officeDocument/2006/relationships/image" Target="../media/image28.svg"/><Relationship Id="rId14" Type="http://schemas.openxmlformats.org/officeDocument/2006/relationships/image" Target="../media/image36.png"/><Relationship Id="rId22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1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5" Type="http://schemas.openxmlformats.org/officeDocument/2006/relationships/image" Target="../media/image41.png"/><Relationship Id="rId10" Type="http://schemas.openxmlformats.org/officeDocument/2006/relationships/image" Target="../media/image48.svg"/><Relationship Id="rId4" Type="http://schemas.openxmlformats.org/officeDocument/2006/relationships/image" Target="../media/image30.png"/><Relationship Id="rId9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5" y="-3278315"/>
            <a:ext cx="19085464" cy="15530532"/>
          </a:xfrm>
          <a:custGeom>
            <a:avLst/>
            <a:gdLst/>
            <a:ahLst/>
            <a:cxnLst/>
            <a:rect l="l" t="t" r="r" b="b"/>
            <a:pathLst>
              <a:path w="19085464" h="15530532">
                <a:moveTo>
                  <a:pt x="0" y="0"/>
                </a:moveTo>
                <a:lnTo>
                  <a:pt x="19085464" y="0"/>
                </a:lnTo>
                <a:lnTo>
                  <a:pt x="19085464" y="15530531"/>
                </a:lnTo>
                <a:lnTo>
                  <a:pt x="0" y="15530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l="-1301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19939" y="-1491476"/>
            <a:ext cx="12884533" cy="12908002"/>
          </a:xfrm>
          <a:custGeom>
            <a:avLst/>
            <a:gdLst/>
            <a:ahLst/>
            <a:cxnLst/>
            <a:rect l="l" t="t" r="r" b="b"/>
            <a:pathLst>
              <a:path w="12884533" h="12908002">
                <a:moveTo>
                  <a:pt x="0" y="0"/>
                </a:moveTo>
                <a:lnTo>
                  <a:pt x="12884532" y="0"/>
                </a:lnTo>
                <a:lnTo>
                  <a:pt x="12884532" y="12908002"/>
                </a:lnTo>
                <a:lnTo>
                  <a:pt x="0" y="12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88585" y="352961"/>
            <a:ext cx="2978866" cy="1314949"/>
          </a:xfrm>
          <a:custGeom>
            <a:avLst/>
            <a:gdLst/>
            <a:ahLst/>
            <a:cxnLst/>
            <a:rect l="l" t="t" r="r" b="b"/>
            <a:pathLst>
              <a:path w="2978866" h="1314949">
                <a:moveTo>
                  <a:pt x="0" y="0"/>
                </a:moveTo>
                <a:lnTo>
                  <a:pt x="2978866" y="0"/>
                </a:lnTo>
                <a:lnTo>
                  <a:pt x="2978866" y="1314949"/>
                </a:lnTo>
                <a:lnTo>
                  <a:pt x="0" y="1314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82979" y="3711972"/>
            <a:ext cx="13922041" cy="182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77"/>
              </a:lnSpc>
            </a:pPr>
            <a:r>
              <a:rPr lang="en-US" sz="5055" b="1" dirty="0" smtClean="0">
                <a:solidFill>
                  <a:srgbClr val="B74322"/>
                </a:solidFill>
                <a:latin typeface="DM Sans Bold"/>
                <a:ea typeface="DM Sans Bold"/>
                <a:cs typeface="DM Sans Bold"/>
                <a:sym typeface="DM Sans Bold"/>
              </a:rPr>
              <a:t>Hyper-representation for efficient Continual Learning</a:t>
            </a:r>
            <a:endParaRPr lang="en-US" sz="5055" b="1" dirty="0">
              <a:solidFill>
                <a:srgbClr val="B74322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6" name="Freeform 6"/>
          <p:cNvSpPr/>
          <p:nvPr/>
        </p:nvSpPr>
        <p:spPr>
          <a:xfrm rot="-5400000">
            <a:off x="15002919" y="4391973"/>
            <a:ext cx="1503053" cy="1503053"/>
          </a:xfrm>
          <a:custGeom>
            <a:avLst/>
            <a:gdLst/>
            <a:ahLst/>
            <a:cxnLst/>
            <a:rect l="l" t="t" r="r" b="b"/>
            <a:pathLst>
              <a:path w="1503053" h="1503053">
                <a:moveTo>
                  <a:pt x="0" y="0"/>
                </a:moveTo>
                <a:lnTo>
                  <a:pt x="1503053" y="0"/>
                </a:lnTo>
                <a:lnTo>
                  <a:pt x="1503053" y="1503054"/>
                </a:lnTo>
                <a:lnTo>
                  <a:pt x="0" y="1503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855270" y="3408994"/>
            <a:ext cx="1503053" cy="1503053"/>
          </a:xfrm>
          <a:custGeom>
            <a:avLst/>
            <a:gdLst/>
            <a:ahLst/>
            <a:cxnLst/>
            <a:rect l="l" t="t" r="r" b="b"/>
            <a:pathLst>
              <a:path w="1503053" h="1503053">
                <a:moveTo>
                  <a:pt x="0" y="0"/>
                </a:moveTo>
                <a:lnTo>
                  <a:pt x="1503054" y="0"/>
                </a:lnTo>
                <a:lnTo>
                  <a:pt x="1503054" y="1503053"/>
                </a:lnTo>
                <a:lnTo>
                  <a:pt x="0" y="1503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903389" y="7209302"/>
            <a:ext cx="444306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Supervisors:</a:t>
            </a: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Dr. </a:t>
            </a:r>
            <a:r>
              <a:rPr lang="en-US" sz="3000" b="1" dirty="0" err="1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Bassem</a:t>
            </a:r>
            <a:r>
              <a:rPr lang="en-US" sz="300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Ben </a:t>
            </a:r>
            <a:r>
              <a:rPr lang="en-US" sz="3000" b="1" dirty="0" err="1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Hamed</a:t>
            </a:r>
            <a:endParaRPr lang="en-US" sz="30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8198" y="7209302"/>
            <a:ext cx="6304789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 err="1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Tlili</a:t>
            </a:r>
            <a:r>
              <a:rPr lang="en-US" sz="300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Aymen</a:t>
            </a:r>
            <a:endParaRPr lang="en-US" sz="30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 Engineering and semantics </a:t>
            </a:r>
            <a:r>
              <a:rPr lang="en-US" sz="3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– </a:t>
            </a:r>
            <a:r>
              <a:rPr lang="en-US" sz="300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Faculty of sciences of </a:t>
            </a:r>
            <a:r>
              <a:rPr lang="en-US" sz="3000" b="1" dirty="0" err="1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Sfax</a:t>
            </a:r>
            <a:endParaRPr lang="en-US" sz="30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6745032" y="6714177"/>
            <a:ext cx="5623611" cy="3419470"/>
            <a:chOff x="0" y="0"/>
            <a:chExt cx="7498148" cy="455929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2339608" y="0"/>
              <a:ext cx="2818933" cy="2818933"/>
              <a:chOff x="0" y="0"/>
              <a:chExt cx="13884457" cy="1388445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-31116" y="-70"/>
                <a:ext cx="13946687" cy="13884594"/>
              </a:xfrm>
              <a:custGeom>
                <a:avLst/>
                <a:gdLst/>
                <a:ahLst/>
                <a:cxnLst/>
                <a:rect l="l" t="t" r="r" b="b"/>
                <a:pathLst>
                  <a:path w="13946687" h="13884594">
                    <a:moveTo>
                      <a:pt x="6973343" y="70"/>
                    </a:moveTo>
                    <a:cubicBezTo>
                      <a:pt x="4485729" y="-11055"/>
                      <a:pt x="2182303" y="1309688"/>
                      <a:pt x="935272" y="3462190"/>
                    </a:cubicBezTo>
                    <a:cubicBezTo>
                      <a:pt x="-311758" y="5614693"/>
                      <a:pt x="-311758" y="8269902"/>
                      <a:pt x="935272" y="10422404"/>
                    </a:cubicBezTo>
                    <a:cubicBezTo>
                      <a:pt x="2182303" y="12574907"/>
                      <a:pt x="4485729" y="13895650"/>
                      <a:pt x="6973343" y="13884525"/>
                    </a:cubicBezTo>
                    <a:cubicBezTo>
                      <a:pt x="9460958" y="13895650"/>
                      <a:pt x="11764384" y="12574907"/>
                      <a:pt x="13011414" y="10422404"/>
                    </a:cubicBezTo>
                    <a:cubicBezTo>
                      <a:pt x="14258444" y="8269902"/>
                      <a:pt x="14258444" y="5614693"/>
                      <a:pt x="13011414" y="3462190"/>
                    </a:cubicBezTo>
                    <a:cubicBezTo>
                      <a:pt x="11764384" y="1309688"/>
                      <a:pt x="9460958" y="-11055"/>
                      <a:pt x="6973343" y="70"/>
                    </a:cubicBezTo>
                    <a:close/>
                  </a:path>
                </a:pathLst>
              </a:custGeom>
              <a:solidFill>
                <a:srgbClr val="FDFBFB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3489" y="84159"/>
                <a:ext cx="13777477" cy="13716138"/>
              </a:xfrm>
              <a:custGeom>
                <a:avLst/>
                <a:gdLst/>
                <a:ahLst/>
                <a:cxnLst/>
                <a:rect l="l" t="t" r="r" b="b"/>
                <a:pathLst>
                  <a:path w="13777477" h="13716138">
                    <a:moveTo>
                      <a:pt x="6888738" y="69"/>
                    </a:moveTo>
                    <a:cubicBezTo>
                      <a:pt x="4431305" y="-10921"/>
                      <a:pt x="2155826" y="1293797"/>
                      <a:pt x="923925" y="3420184"/>
                    </a:cubicBezTo>
                    <a:cubicBezTo>
                      <a:pt x="-307975" y="5546572"/>
                      <a:pt x="-307975" y="8169565"/>
                      <a:pt x="923925" y="10295952"/>
                    </a:cubicBezTo>
                    <a:cubicBezTo>
                      <a:pt x="2155826" y="12422340"/>
                      <a:pt x="4431305" y="13727058"/>
                      <a:pt x="6888738" y="13716068"/>
                    </a:cubicBezTo>
                    <a:cubicBezTo>
                      <a:pt x="9346172" y="13727058"/>
                      <a:pt x="11621651" y="12422340"/>
                      <a:pt x="12853552" y="10295952"/>
                    </a:cubicBezTo>
                    <a:cubicBezTo>
                      <a:pt x="14085453" y="8169565"/>
                      <a:pt x="14085453" y="5546572"/>
                      <a:pt x="12853552" y="3420184"/>
                    </a:cubicBezTo>
                    <a:cubicBezTo>
                      <a:pt x="11621651" y="1293797"/>
                      <a:pt x="9346172" y="-10921"/>
                      <a:pt x="6888738" y="69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4475" r="-4475"/>
                </a:stretch>
              </a:blip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0" y="3130544"/>
              <a:ext cx="7498148" cy="1428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83"/>
                </a:lnSpc>
              </a:pPr>
              <a:r>
                <a:rPr lang="en-US" sz="2319" b="1" spc="16">
                  <a:solidFill>
                    <a:srgbClr val="07367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ENET'Com</a:t>
              </a:r>
            </a:p>
            <a:p>
              <a:pPr algn="ctr">
                <a:lnSpc>
                  <a:spcPts val="2783"/>
                </a:lnSpc>
              </a:pPr>
              <a:r>
                <a:rPr lang="en-US" sz="2319" b="1" spc="16">
                  <a:solidFill>
                    <a:srgbClr val="07367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May 7, 2026</a:t>
              </a:r>
            </a:p>
            <a:p>
              <a:pPr algn="ctr">
                <a:lnSpc>
                  <a:spcPts val="2783"/>
                </a:lnSpc>
              </a:pPr>
              <a:endParaRPr lang="en-US" sz="2319" b="1" spc="16">
                <a:solidFill>
                  <a:srgbClr val="073672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2212608" y="3128920"/>
              <a:ext cx="425358" cy="526488"/>
            </a:xfrm>
            <a:custGeom>
              <a:avLst/>
              <a:gdLst/>
              <a:ahLst/>
              <a:cxnLst/>
              <a:rect l="l" t="t" r="r" b="b"/>
              <a:pathLst>
                <a:path w="425358" h="526488">
                  <a:moveTo>
                    <a:pt x="0" y="0"/>
                  </a:moveTo>
                  <a:lnTo>
                    <a:pt x="425358" y="0"/>
                  </a:lnTo>
                  <a:lnTo>
                    <a:pt x="425358" y="526488"/>
                  </a:lnTo>
                  <a:lnTo>
                    <a:pt x="0" y="526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-10800000">
            <a:off x="0" y="0"/>
            <a:ext cx="1307166" cy="1010435"/>
            <a:chOff x="0" y="0"/>
            <a:chExt cx="1505075" cy="11634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05075" cy="1163418"/>
            </a:xfrm>
            <a:custGeom>
              <a:avLst/>
              <a:gdLst/>
              <a:ahLst/>
              <a:cxnLst/>
              <a:rect l="l" t="t" r="r" b="b"/>
              <a:pathLst>
                <a:path w="1505075" h="1163418">
                  <a:moveTo>
                    <a:pt x="0" y="0"/>
                  </a:moveTo>
                  <a:lnTo>
                    <a:pt x="1505075" y="0"/>
                  </a:lnTo>
                  <a:lnTo>
                    <a:pt x="1505075" y="1163418"/>
                  </a:lnTo>
                  <a:lnTo>
                    <a:pt x="0" y="1163418"/>
                  </a:lnTo>
                  <a:close/>
                </a:path>
              </a:pathLst>
            </a:custGeom>
            <a:solidFill>
              <a:srgbClr val="00214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505075" cy="1191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1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10800000">
            <a:off x="745697" y="0"/>
            <a:ext cx="1138304" cy="1010435"/>
            <a:chOff x="0" y="0"/>
            <a:chExt cx="812800" cy="7214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21496"/>
            </a:xfrm>
            <a:custGeom>
              <a:avLst/>
              <a:gdLst/>
              <a:ahLst/>
              <a:cxnLst/>
              <a:rect l="l" t="t" r="r" b="b"/>
              <a:pathLst>
                <a:path w="812800" h="721496">
                  <a:moveTo>
                    <a:pt x="406400" y="0"/>
                  </a:moveTo>
                  <a:lnTo>
                    <a:pt x="812800" y="721496"/>
                  </a:lnTo>
                  <a:lnTo>
                    <a:pt x="0" y="72149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657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306405"/>
              <a:ext cx="558800" cy="363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10800000">
            <a:off x="1307166" y="-172434"/>
            <a:ext cx="16980834" cy="390889"/>
            <a:chOff x="0" y="0"/>
            <a:chExt cx="22378503" cy="5151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378502" cy="515140"/>
            </a:xfrm>
            <a:custGeom>
              <a:avLst/>
              <a:gdLst/>
              <a:ahLst/>
              <a:cxnLst/>
              <a:rect l="l" t="t" r="r" b="b"/>
              <a:pathLst>
                <a:path w="22378502" h="515140">
                  <a:moveTo>
                    <a:pt x="0" y="0"/>
                  </a:moveTo>
                  <a:lnTo>
                    <a:pt x="22378502" y="0"/>
                  </a:lnTo>
                  <a:lnTo>
                    <a:pt x="22378502" y="515140"/>
                  </a:lnTo>
                  <a:lnTo>
                    <a:pt x="0" y="515140"/>
                  </a:lnTo>
                  <a:close/>
                </a:path>
              </a:pathLst>
            </a:custGeom>
            <a:solidFill>
              <a:srgbClr val="E65700">
                <a:alpha val="52941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22378503" cy="543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9964388"/>
            <a:ext cx="15402314" cy="179609"/>
            <a:chOff x="0" y="0"/>
            <a:chExt cx="20298222" cy="23670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298221" cy="236701"/>
            </a:xfrm>
            <a:custGeom>
              <a:avLst/>
              <a:gdLst/>
              <a:ahLst/>
              <a:cxnLst/>
              <a:rect l="l" t="t" r="r" b="b"/>
              <a:pathLst>
                <a:path w="20298221" h="236701">
                  <a:moveTo>
                    <a:pt x="0" y="0"/>
                  </a:moveTo>
                  <a:lnTo>
                    <a:pt x="20298221" y="0"/>
                  </a:lnTo>
                  <a:lnTo>
                    <a:pt x="20298221" y="236701"/>
                  </a:lnTo>
                  <a:lnTo>
                    <a:pt x="0" y="236701"/>
                  </a:lnTo>
                  <a:close/>
                </a:path>
              </a:pathLst>
            </a:custGeom>
            <a:solidFill>
              <a:srgbClr val="E65700">
                <a:alpha val="53725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20298222" cy="265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-224525" y="10133647"/>
            <a:ext cx="15670830" cy="179011"/>
            <a:chOff x="0" y="0"/>
            <a:chExt cx="20652090" cy="23591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652090" cy="235913"/>
            </a:xfrm>
            <a:custGeom>
              <a:avLst/>
              <a:gdLst/>
              <a:ahLst/>
              <a:cxnLst/>
              <a:rect l="l" t="t" r="r" b="b"/>
              <a:pathLst>
                <a:path w="20652090" h="235913">
                  <a:moveTo>
                    <a:pt x="0" y="0"/>
                  </a:moveTo>
                  <a:lnTo>
                    <a:pt x="20652090" y="0"/>
                  </a:lnTo>
                  <a:lnTo>
                    <a:pt x="20652090" y="235913"/>
                  </a:lnTo>
                  <a:lnTo>
                    <a:pt x="0" y="235913"/>
                  </a:lnTo>
                  <a:close/>
                </a:path>
              </a:pathLst>
            </a:custGeom>
            <a:solidFill>
              <a:srgbClr val="00214D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20652090" cy="264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596039" y="9258300"/>
            <a:ext cx="2948641" cy="1592383"/>
            <a:chOff x="0" y="0"/>
            <a:chExt cx="1505075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6570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6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686106" y="9258300"/>
            <a:ext cx="1819866" cy="1592383"/>
            <a:chOff x="0" y="0"/>
            <a:chExt cx="812800" cy="711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6570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578018" y="9624591"/>
            <a:ext cx="1142053" cy="616754"/>
            <a:chOff x="0" y="0"/>
            <a:chExt cx="1505075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657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6225588" y="9624591"/>
            <a:ext cx="704861" cy="616754"/>
            <a:chOff x="0" y="0"/>
            <a:chExt cx="812800" cy="7112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65700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725628" y="780458"/>
            <a:ext cx="5230178" cy="1419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>
                <a:solidFill>
                  <a:srgbClr val="073672"/>
                </a:solidFill>
                <a:latin typeface="TT Fors Bold"/>
                <a:ea typeface="TT Fors Bold"/>
                <a:cs typeface="TT Fors Bold"/>
                <a:sym typeface="TT Fors Bold"/>
              </a:rPr>
              <a:t>Doctoral Days 2026</a:t>
            </a:r>
          </a:p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>
                <a:solidFill>
                  <a:srgbClr val="073672"/>
                </a:solidFill>
                <a:latin typeface="TT Fors Bold"/>
                <a:ea typeface="TT Fors Bold"/>
                <a:cs typeface="TT Fors Bold"/>
                <a:sym typeface="TT Fors Bold"/>
              </a:rPr>
              <a:t>STIC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926212" y="9537345"/>
            <a:ext cx="1361788" cy="735419"/>
            <a:chOff x="0" y="0"/>
            <a:chExt cx="1505075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14D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505972" y="9537345"/>
            <a:ext cx="840479" cy="735419"/>
            <a:chOff x="0" y="0"/>
            <a:chExt cx="812800" cy="711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214D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sp>
        <p:nvSpPr>
          <p:cNvPr id="50" name="Freeform 50"/>
          <p:cNvSpPr/>
          <p:nvPr/>
        </p:nvSpPr>
        <p:spPr>
          <a:xfrm>
            <a:off x="1601499" y="257246"/>
            <a:ext cx="2483734" cy="1410665"/>
          </a:xfrm>
          <a:custGeom>
            <a:avLst/>
            <a:gdLst/>
            <a:ahLst/>
            <a:cxnLst/>
            <a:rect l="l" t="t" r="r" b="b"/>
            <a:pathLst>
              <a:path w="2483734" h="1410665">
                <a:moveTo>
                  <a:pt x="0" y="0"/>
                </a:moveTo>
                <a:lnTo>
                  <a:pt x="2483734" y="0"/>
                </a:lnTo>
                <a:lnTo>
                  <a:pt x="2483734" y="1410664"/>
                </a:lnTo>
                <a:lnTo>
                  <a:pt x="0" y="14106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6359" t="-86182" r="-45388" b="-151424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5" y="-3278315"/>
            <a:ext cx="19085464" cy="15530532"/>
          </a:xfrm>
          <a:custGeom>
            <a:avLst/>
            <a:gdLst/>
            <a:ahLst/>
            <a:cxnLst/>
            <a:rect l="l" t="t" r="r" b="b"/>
            <a:pathLst>
              <a:path w="19085464" h="15530532">
                <a:moveTo>
                  <a:pt x="0" y="0"/>
                </a:moveTo>
                <a:lnTo>
                  <a:pt x="19085464" y="0"/>
                </a:lnTo>
                <a:lnTo>
                  <a:pt x="19085464" y="15530531"/>
                </a:lnTo>
                <a:lnTo>
                  <a:pt x="0" y="15530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-1301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20992" y="1986682"/>
            <a:ext cx="1221418" cy="7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8"/>
              </a:lnSpc>
            </a:pPr>
            <a:r>
              <a:rPr lang="en-US" sz="4765" i="1" spc="390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01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115749" y="0"/>
            <a:ext cx="47625" cy="2944644"/>
            <a:chOff x="0" y="0"/>
            <a:chExt cx="12543" cy="7755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16641" y="645554"/>
            <a:ext cx="17346733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sz="4500" spc="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Outline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-2075" y="9962524"/>
            <a:ext cx="16824226" cy="47625"/>
            <a:chOff x="0" y="0"/>
            <a:chExt cx="4431072" cy="1254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31072" cy="12543"/>
            </a:xfrm>
            <a:custGeom>
              <a:avLst/>
              <a:gdLst/>
              <a:ahLst/>
              <a:cxnLst/>
              <a:rect l="l" t="t" r="r" b="b"/>
              <a:pathLst>
                <a:path w="4431072" h="12543">
                  <a:moveTo>
                    <a:pt x="0" y="0"/>
                  </a:moveTo>
                  <a:lnTo>
                    <a:pt x="4431072" y="0"/>
                  </a:lnTo>
                  <a:lnTo>
                    <a:pt x="443107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4431072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6795" y="7342356"/>
            <a:ext cx="47625" cy="2944644"/>
            <a:chOff x="0" y="0"/>
            <a:chExt cx="12543" cy="7755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2816" y="561736"/>
            <a:ext cx="47625" cy="910586"/>
            <a:chOff x="0" y="0"/>
            <a:chExt cx="12543" cy="2398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543" cy="239825"/>
            </a:xfrm>
            <a:custGeom>
              <a:avLst/>
              <a:gdLst/>
              <a:ahLst/>
              <a:cxnLst/>
              <a:rect l="l" t="t" r="r" b="b"/>
              <a:pathLst>
                <a:path w="12543" h="239825">
                  <a:moveTo>
                    <a:pt x="0" y="0"/>
                  </a:moveTo>
                  <a:lnTo>
                    <a:pt x="12543" y="0"/>
                  </a:lnTo>
                  <a:lnTo>
                    <a:pt x="12543" y="239825"/>
                  </a:lnTo>
                  <a:lnTo>
                    <a:pt x="0" y="239825"/>
                  </a:lnTo>
                  <a:close/>
                </a:path>
              </a:pathLst>
            </a:custGeom>
            <a:solidFill>
              <a:srgbClr val="FF6633"/>
            </a:solidFill>
            <a:ln w="57150" cap="sq">
              <a:solidFill>
                <a:srgbClr val="FF6633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12543" cy="2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933269" y="2574916"/>
            <a:ext cx="5082822" cy="5082822"/>
          </a:xfrm>
          <a:custGeom>
            <a:avLst/>
            <a:gdLst/>
            <a:ahLst/>
            <a:cxnLst/>
            <a:rect l="l" t="t" r="r" b="b"/>
            <a:pathLst>
              <a:path w="5082822" h="5082822">
                <a:moveTo>
                  <a:pt x="0" y="0"/>
                </a:moveTo>
                <a:lnTo>
                  <a:pt x="5082822" y="0"/>
                </a:lnTo>
                <a:lnTo>
                  <a:pt x="5082822" y="5082821"/>
                </a:lnTo>
                <a:lnTo>
                  <a:pt x="0" y="5082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 rot="5400000">
            <a:off x="-2200835" y="529025"/>
            <a:ext cx="11109430" cy="7757568"/>
            <a:chOff x="0" y="0"/>
            <a:chExt cx="660400" cy="46114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60400" cy="461149"/>
            </a:xfrm>
            <a:custGeom>
              <a:avLst/>
              <a:gdLst/>
              <a:ahLst/>
              <a:cxnLst/>
              <a:rect l="l" t="t" r="r" b="b"/>
              <a:pathLst>
                <a:path w="660400" h="461149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66675" cap="sq">
              <a:solidFill>
                <a:srgbClr val="BEC8DA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lIns="44094" tIns="44094" rIns="44094" bIns="44094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147291" y="6237108"/>
            <a:ext cx="1055701" cy="1132973"/>
            <a:chOff x="0" y="0"/>
            <a:chExt cx="1407601" cy="1510631"/>
          </a:xfrm>
        </p:grpSpPr>
        <p:sp>
          <p:nvSpPr>
            <p:cNvPr id="31" name="Freeform 31"/>
            <p:cNvSpPr/>
            <p:nvPr/>
          </p:nvSpPr>
          <p:spPr>
            <a:xfrm>
              <a:off x="0" y="103030"/>
              <a:ext cx="1407601" cy="1407601"/>
            </a:xfrm>
            <a:custGeom>
              <a:avLst/>
              <a:gdLst/>
              <a:ahLst/>
              <a:cxnLst/>
              <a:rect l="l" t="t" r="r" b="b"/>
              <a:pathLst>
                <a:path w="1407601" h="1407601">
                  <a:moveTo>
                    <a:pt x="0" y="0"/>
                  </a:moveTo>
                  <a:lnTo>
                    <a:pt x="1407601" y="0"/>
                  </a:lnTo>
                  <a:lnTo>
                    <a:pt x="1407601" y="1407601"/>
                  </a:lnTo>
                  <a:lnTo>
                    <a:pt x="0" y="1407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2" name="Group 32"/>
            <p:cNvGrpSpPr/>
            <p:nvPr/>
          </p:nvGrpSpPr>
          <p:grpSpPr>
            <a:xfrm>
              <a:off x="0" y="0"/>
              <a:ext cx="1407601" cy="1407601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7DED6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4094" tIns="44094" rIns="44094" bIns="44094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468798" y="408665"/>
              <a:ext cx="596883" cy="596883"/>
            </a:xfrm>
            <a:custGeom>
              <a:avLst/>
              <a:gdLst/>
              <a:ahLst/>
              <a:cxnLst/>
              <a:rect l="l" t="t" r="r" b="b"/>
              <a:pathLst>
                <a:path w="596883" h="596883">
                  <a:moveTo>
                    <a:pt x="0" y="0"/>
                  </a:moveTo>
                  <a:lnTo>
                    <a:pt x="596883" y="0"/>
                  </a:lnTo>
                  <a:lnTo>
                    <a:pt x="596883" y="596883"/>
                  </a:lnTo>
                  <a:lnTo>
                    <a:pt x="0" y="596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6608216" y="4665985"/>
            <a:ext cx="1055701" cy="1132973"/>
            <a:chOff x="0" y="0"/>
            <a:chExt cx="1407601" cy="1510631"/>
          </a:xfrm>
        </p:grpSpPr>
        <p:sp>
          <p:nvSpPr>
            <p:cNvPr id="37" name="Freeform 37"/>
            <p:cNvSpPr/>
            <p:nvPr/>
          </p:nvSpPr>
          <p:spPr>
            <a:xfrm>
              <a:off x="0" y="103030"/>
              <a:ext cx="1407601" cy="1407601"/>
            </a:xfrm>
            <a:custGeom>
              <a:avLst/>
              <a:gdLst/>
              <a:ahLst/>
              <a:cxnLst/>
              <a:rect l="l" t="t" r="r" b="b"/>
              <a:pathLst>
                <a:path w="1407601" h="1407601">
                  <a:moveTo>
                    <a:pt x="0" y="0"/>
                  </a:moveTo>
                  <a:lnTo>
                    <a:pt x="1407601" y="0"/>
                  </a:lnTo>
                  <a:lnTo>
                    <a:pt x="1407601" y="1407601"/>
                  </a:lnTo>
                  <a:lnTo>
                    <a:pt x="0" y="1407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8" name="Group 38"/>
            <p:cNvGrpSpPr/>
            <p:nvPr/>
          </p:nvGrpSpPr>
          <p:grpSpPr>
            <a:xfrm>
              <a:off x="0" y="0"/>
              <a:ext cx="1407601" cy="1407601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68D55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4094" tIns="44094" rIns="44094" bIns="44094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1" name="Freeform 41"/>
            <p:cNvSpPr/>
            <p:nvPr/>
          </p:nvSpPr>
          <p:spPr>
            <a:xfrm>
              <a:off x="356536" y="356536"/>
              <a:ext cx="694529" cy="694529"/>
            </a:xfrm>
            <a:custGeom>
              <a:avLst/>
              <a:gdLst/>
              <a:ahLst/>
              <a:cxnLst/>
              <a:rect l="l" t="t" r="r" b="b"/>
              <a:pathLst>
                <a:path w="694529" h="694529">
                  <a:moveTo>
                    <a:pt x="0" y="0"/>
                  </a:moveTo>
                  <a:lnTo>
                    <a:pt x="694529" y="0"/>
                  </a:lnTo>
                  <a:lnTo>
                    <a:pt x="694529" y="694529"/>
                  </a:lnTo>
                  <a:lnTo>
                    <a:pt x="0" y="694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6035141" y="1396122"/>
            <a:ext cx="1108049" cy="1137610"/>
            <a:chOff x="0" y="0"/>
            <a:chExt cx="1477398" cy="1516813"/>
          </a:xfrm>
        </p:grpSpPr>
        <p:sp>
          <p:nvSpPr>
            <p:cNvPr id="43" name="Freeform 43"/>
            <p:cNvSpPr/>
            <p:nvPr/>
          </p:nvSpPr>
          <p:spPr>
            <a:xfrm>
              <a:off x="69797" y="109212"/>
              <a:ext cx="1407601" cy="1407601"/>
            </a:xfrm>
            <a:custGeom>
              <a:avLst/>
              <a:gdLst/>
              <a:ahLst/>
              <a:cxnLst/>
              <a:rect l="l" t="t" r="r" b="b"/>
              <a:pathLst>
                <a:path w="1407601" h="1407601">
                  <a:moveTo>
                    <a:pt x="0" y="0"/>
                  </a:moveTo>
                  <a:lnTo>
                    <a:pt x="1407601" y="0"/>
                  </a:lnTo>
                  <a:lnTo>
                    <a:pt x="1407601" y="1407601"/>
                  </a:lnTo>
                  <a:lnTo>
                    <a:pt x="0" y="1407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4" name="Group 44"/>
            <p:cNvGrpSpPr/>
            <p:nvPr/>
          </p:nvGrpSpPr>
          <p:grpSpPr>
            <a:xfrm>
              <a:off x="0" y="0"/>
              <a:ext cx="1407601" cy="1407601"/>
              <a:chOff x="0" y="0"/>
              <a:chExt cx="812800" cy="812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22359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4094" tIns="44094" rIns="44094" bIns="44094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7" name="Freeform 47"/>
            <p:cNvSpPr/>
            <p:nvPr/>
          </p:nvSpPr>
          <p:spPr>
            <a:xfrm>
              <a:off x="402554" y="376133"/>
              <a:ext cx="694529" cy="694529"/>
            </a:xfrm>
            <a:custGeom>
              <a:avLst/>
              <a:gdLst/>
              <a:ahLst/>
              <a:cxnLst/>
              <a:rect l="l" t="t" r="r" b="b"/>
              <a:pathLst>
                <a:path w="694529" h="694529">
                  <a:moveTo>
                    <a:pt x="0" y="0"/>
                  </a:moveTo>
                  <a:lnTo>
                    <a:pt x="694528" y="0"/>
                  </a:lnTo>
                  <a:lnTo>
                    <a:pt x="694528" y="694529"/>
                  </a:lnTo>
                  <a:lnTo>
                    <a:pt x="0" y="694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6665617" y="2967425"/>
            <a:ext cx="1056347" cy="1117536"/>
            <a:chOff x="0" y="0"/>
            <a:chExt cx="1408463" cy="1490047"/>
          </a:xfrm>
        </p:grpSpPr>
        <p:sp>
          <p:nvSpPr>
            <p:cNvPr id="49" name="Freeform 49"/>
            <p:cNvSpPr/>
            <p:nvPr/>
          </p:nvSpPr>
          <p:spPr>
            <a:xfrm>
              <a:off x="861" y="82446"/>
              <a:ext cx="1407601" cy="1407601"/>
            </a:xfrm>
            <a:custGeom>
              <a:avLst/>
              <a:gdLst/>
              <a:ahLst/>
              <a:cxnLst/>
              <a:rect l="l" t="t" r="r" b="b"/>
              <a:pathLst>
                <a:path w="1407601" h="1407601">
                  <a:moveTo>
                    <a:pt x="0" y="0"/>
                  </a:moveTo>
                  <a:lnTo>
                    <a:pt x="1407602" y="0"/>
                  </a:lnTo>
                  <a:lnTo>
                    <a:pt x="1407602" y="1407601"/>
                  </a:lnTo>
                  <a:lnTo>
                    <a:pt x="0" y="1407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0" name="Group 50"/>
            <p:cNvGrpSpPr/>
            <p:nvPr/>
          </p:nvGrpSpPr>
          <p:grpSpPr>
            <a:xfrm>
              <a:off x="0" y="0"/>
              <a:ext cx="1407601" cy="1407601"/>
              <a:chOff x="0" y="0"/>
              <a:chExt cx="812800" cy="8128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D629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4094" tIns="44094" rIns="44094" bIns="44094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3" name="Freeform 53"/>
            <p:cNvSpPr/>
            <p:nvPr/>
          </p:nvSpPr>
          <p:spPr>
            <a:xfrm>
              <a:off x="403259" y="367260"/>
              <a:ext cx="602806" cy="628742"/>
            </a:xfrm>
            <a:custGeom>
              <a:avLst/>
              <a:gdLst/>
              <a:ahLst/>
              <a:cxnLst/>
              <a:rect l="l" t="t" r="r" b="b"/>
              <a:pathLst>
                <a:path w="602806" h="628742">
                  <a:moveTo>
                    <a:pt x="0" y="0"/>
                  </a:moveTo>
                  <a:lnTo>
                    <a:pt x="602806" y="0"/>
                  </a:lnTo>
                  <a:lnTo>
                    <a:pt x="602806" y="628742"/>
                  </a:lnTo>
                  <a:lnTo>
                    <a:pt x="0" y="628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4" name="TextBox 54"/>
          <p:cNvSpPr txBox="1"/>
          <p:nvPr/>
        </p:nvSpPr>
        <p:spPr>
          <a:xfrm>
            <a:off x="1778106" y="3753702"/>
            <a:ext cx="3393149" cy="45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endParaRPr/>
          </a:p>
        </p:txBody>
      </p:sp>
      <p:sp>
        <p:nvSpPr>
          <p:cNvPr id="55" name="TextBox 55"/>
          <p:cNvSpPr txBox="1"/>
          <p:nvPr/>
        </p:nvSpPr>
        <p:spPr>
          <a:xfrm>
            <a:off x="7180638" y="6513741"/>
            <a:ext cx="1223229" cy="61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61"/>
              </a:lnSpc>
            </a:pPr>
            <a:r>
              <a:rPr lang="en-US" sz="4340" b="1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084776" y="1675074"/>
            <a:ext cx="1223229" cy="61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61"/>
              </a:lnSpc>
            </a:pPr>
            <a:r>
              <a:rPr lang="en-US" sz="4340" b="1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649952" y="4942618"/>
            <a:ext cx="1223229" cy="61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61"/>
              </a:lnSpc>
            </a:pPr>
            <a:r>
              <a:rPr lang="en-US" sz="4340" b="1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721963" y="3236339"/>
            <a:ext cx="1223229" cy="61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61"/>
              </a:lnSpc>
            </a:pPr>
            <a:r>
              <a:rPr lang="en-US" sz="4340" b="1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825327" y="6491093"/>
            <a:ext cx="5735805" cy="54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1"/>
              </a:lnSpc>
              <a:spcBef>
                <a:spcPct val="0"/>
              </a:spcBef>
            </a:pPr>
            <a:r>
              <a:rPr lang="en-US" sz="3143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Experimental Results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729465" y="1652425"/>
            <a:ext cx="6545448" cy="54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1"/>
              </a:lnSpc>
              <a:spcBef>
                <a:spcPct val="0"/>
              </a:spcBef>
            </a:pPr>
            <a:r>
              <a:rPr lang="en-US" sz="3143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Context and motivation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294641" y="4919970"/>
            <a:ext cx="6120633" cy="54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1"/>
              </a:lnSpc>
              <a:spcBef>
                <a:spcPct val="0"/>
              </a:spcBef>
            </a:pPr>
            <a:r>
              <a:rPr lang="en-US" sz="3143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Proposed Approach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289093" y="3213691"/>
            <a:ext cx="4556041" cy="54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1"/>
              </a:lnSpc>
              <a:spcBef>
                <a:spcPct val="0"/>
              </a:spcBef>
            </a:pPr>
            <a:r>
              <a:rPr lang="en-US" sz="3143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 Research Objectives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59551" y="7788954"/>
            <a:ext cx="1223229" cy="61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61"/>
              </a:lnSpc>
            </a:pPr>
            <a:r>
              <a:rPr lang="en-US" sz="4340" b="1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05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048916" y="7766306"/>
            <a:ext cx="6629226" cy="54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1"/>
              </a:lnSpc>
              <a:spcBef>
                <a:spcPct val="0"/>
              </a:spcBef>
            </a:pPr>
            <a:r>
              <a:rPr lang="en-US" sz="3143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Conclusion and Future Work</a:t>
            </a:r>
          </a:p>
        </p:txBody>
      </p:sp>
      <p:grpSp>
        <p:nvGrpSpPr>
          <p:cNvPr id="65" name="Group 65"/>
          <p:cNvGrpSpPr>
            <a:grpSpLocks noChangeAspect="1"/>
          </p:cNvGrpSpPr>
          <p:nvPr/>
        </p:nvGrpSpPr>
        <p:grpSpPr>
          <a:xfrm>
            <a:off x="1742196" y="3404102"/>
            <a:ext cx="3478796" cy="3478796"/>
            <a:chOff x="0" y="0"/>
            <a:chExt cx="13884457" cy="13884457"/>
          </a:xfrm>
        </p:grpSpPr>
        <p:sp>
          <p:nvSpPr>
            <p:cNvPr id="66" name="Freeform 66"/>
            <p:cNvSpPr/>
            <p:nvPr/>
          </p:nvSpPr>
          <p:spPr>
            <a:xfrm>
              <a:off x="-31116" y="-70"/>
              <a:ext cx="13946687" cy="13884594"/>
            </a:xfrm>
            <a:custGeom>
              <a:avLst/>
              <a:gdLst/>
              <a:ahLst/>
              <a:cxnLst/>
              <a:rect l="l" t="t" r="r" b="b"/>
              <a:pathLst>
                <a:path w="13946687" h="13884594">
                  <a:moveTo>
                    <a:pt x="6973343" y="70"/>
                  </a:moveTo>
                  <a:cubicBezTo>
                    <a:pt x="4485729" y="-11055"/>
                    <a:pt x="2182303" y="1309688"/>
                    <a:pt x="935272" y="3462190"/>
                  </a:cubicBezTo>
                  <a:cubicBezTo>
                    <a:pt x="-311758" y="5614693"/>
                    <a:pt x="-311758" y="8269902"/>
                    <a:pt x="935272" y="10422404"/>
                  </a:cubicBezTo>
                  <a:cubicBezTo>
                    <a:pt x="2182303" y="12574907"/>
                    <a:pt x="4485729" y="13895650"/>
                    <a:pt x="6973343" y="13884525"/>
                  </a:cubicBezTo>
                  <a:cubicBezTo>
                    <a:pt x="9460958" y="13895650"/>
                    <a:pt x="11764384" y="12574907"/>
                    <a:pt x="13011414" y="10422404"/>
                  </a:cubicBezTo>
                  <a:cubicBezTo>
                    <a:pt x="14258444" y="8269902"/>
                    <a:pt x="14258444" y="5614693"/>
                    <a:pt x="13011414" y="3462190"/>
                  </a:cubicBezTo>
                  <a:cubicBezTo>
                    <a:pt x="11764384" y="1309688"/>
                    <a:pt x="9460958" y="-11055"/>
                    <a:pt x="6973343" y="70"/>
                  </a:cubicBezTo>
                  <a:close/>
                </a:path>
              </a:pathLst>
            </a:custGeom>
            <a:solidFill>
              <a:srgbClr val="FDFBFB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53489" y="84159"/>
              <a:ext cx="13777477" cy="13716138"/>
            </a:xfrm>
            <a:custGeom>
              <a:avLst/>
              <a:gdLst/>
              <a:ahLst/>
              <a:cxnLst/>
              <a:rect l="l" t="t" r="r" b="b"/>
              <a:pathLst>
                <a:path w="13777477" h="13716138">
                  <a:moveTo>
                    <a:pt x="6888738" y="69"/>
                  </a:moveTo>
                  <a:cubicBezTo>
                    <a:pt x="4431305" y="-10921"/>
                    <a:pt x="2155826" y="1293797"/>
                    <a:pt x="923925" y="3420184"/>
                  </a:cubicBezTo>
                  <a:cubicBezTo>
                    <a:pt x="-307975" y="5546572"/>
                    <a:pt x="-307975" y="8169565"/>
                    <a:pt x="923925" y="10295952"/>
                  </a:cubicBezTo>
                  <a:cubicBezTo>
                    <a:pt x="2155826" y="12422340"/>
                    <a:pt x="4431305" y="13727058"/>
                    <a:pt x="6888738" y="13716068"/>
                  </a:cubicBezTo>
                  <a:cubicBezTo>
                    <a:pt x="9346172" y="13727058"/>
                    <a:pt x="11621651" y="12422340"/>
                    <a:pt x="12853552" y="10295952"/>
                  </a:cubicBezTo>
                  <a:cubicBezTo>
                    <a:pt x="14085453" y="8169565"/>
                    <a:pt x="14085453" y="5546572"/>
                    <a:pt x="12853552" y="3420184"/>
                  </a:cubicBezTo>
                  <a:cubicBezTo>
                    <a:pt x="11621651" y="1293797"/>
                    <a:pt x="9346172" y="-10921"/>
                    <a:pt x="6888738" y="69"/>
                  </a:cubicBezTo>
                  <a:close/>
                </a:path>
              </a:pathLst>
            </a:custGeom>
            <a:blipFill>
              <a:blip r:embed="rId14"/>
              <a:stretch>
                <a:fillRect l="-4475" r="-4475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5275275" y="7550957"/>
            <a:ext cx="1055701" cy="1055701"/>
            <a:chOff x="0" y="0"/>
            <a:chExt cx="1407601" cy="1407601"/>
          </a:xfrm>
        </p:grpSpPr>
        <p:grpSp>
          <p:nvGrpSpPr>
            <p:cNvPr id="69" name="Group 69"/>
            <p:cNvGrpSpPr/>
            <p:nvPr/>
          </p:nvGrpSpPr>
          <p:grpSpPr>
            <a:xfrm>
              <a:off x="0" y="0"/>
              <a:ext cx="1407601" cy="1407601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0D9E8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4094" tIns="44094" rIns="44094" bIns="44094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2" name="Freeform 72"/>
            <p:cNvSpPr/>
            <p:nvPr/>
          </p:nvSpPr>
          <p:spPr>
            <a:xfrm>
              <a:off x="250342" y="286052"/>
              <a:ext cx="906917" cy="835497"/>
            </a:xfrm>
            <a:custGeom>
              <a:avLst/>
              <a:gdLst/>
              <a:ahLst/>
              <a:cxnLst/>
              <a:rect l="l" t="t" r="r" b="b"/>
              <a:pathLst>
                <a:path w="906917" h="835497">
                  <a:moveTo>
                    <a:pt x="0" y="0"/>
                  </a:moveTo>
                  <a:lnTo>
                    <a:pt x="906917" y="0"/>
                  </a:lnTo>
                  <a:lnTo>
                    <a:pt x="906917" y="835497"/>
                  </a:lnTo>
                  <a:lnTo>
                    <a:pt x="0" y="835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=""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3" name="TextBox 73"/>
          <p:cNvSpPr txBox="1"/>
          <p:nvPr/>
        </p:nvSpPr>
        <p:spPr>
          <a:xfrm>
            <a:off x="17503491" y="9188594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5" y="-3278315"/>
            <a:ext cx="19085464" cy="15530532"/>
          </a:xfrm>
          <a:custGeom>
            <a:avLst/>
            <a:gdLst/>
            <a:ahLst/>
            <a:cxnLst/>
            <a:rect l="l" t="t" r="r" b="b"/>
            <a:pathLst>
              <a:path w="19085464" h="15530532">
                <a:moveTo>
                  <a:pt x="0" y="0"/>
                </a:moveTo>
                <a:lnTo>
                  <a:pt x="19085464" y="0"/>
                </a:lnTo>
                <a:lnTo>
                  <a:pt x="19085464" y="15530531"/>
                </a:lnTo>
                <a:lnTo>
                  <a:pt x="0" y="15530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l="-1301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20992" y="1986682"/>
            <a:ext cx="1221418" cy="7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8"/>
              </a:lnSpc>
            </a:pPr>
            <a:r>
              <a:rPr lang="en-US" sz="4765" i="1" spc="390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01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115749" y="0"/>
            <a:ext cx="47625" cy="2944644"/>
            <a:chOff x="0" y="0"/>
            <a:chExt cx="12543" cy="7755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2075" y="9962524"/>
            <a:ext cx="16824226" cy="47625"/>
            <a:chOff x="0" y="0"/>
            <a:chExt cx="4431072" cy="1254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31072" cy="12543"/>
            </a:xfrm>
            <a:custGeom>
              <a:avLst/>
              <a:gdLst/>
              <a:ahLst/>
              <a:cxnLst/>
              <a:rect l="l" t="t" r="r" b="b"/>
              <a:pathLst>
                <a:path w="4431072" h="12543">
                  <a:moveTo>
                    <a:pt x="0" y="0"/>
                  </a:moveTo>
                  <a:lnTo>
                    <a:pt x="4431072" y="0"/>
                  </a:lnTo>
                  <a:lnTo>
                    <a:pt x="443107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431072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6795" y="7342356"/>
            <a:ext cx="47625" cy="2944644"/>
            <a:chOff x="0" y="0"/>
            <a:chExt cx="12543" cy="7755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4186095" y="4465956"/>
            <a:ext cx="20674006" cy="1355087"/>
            <a:chOff x="0" y="0"/>
            <a:chExt cx="27565342" cy="180678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1304"/>
              <a:ext cx="12766613" cy="1804176"/>
              <a:chOff x="0" y="0"/>
              <a:chExt cx="2521800" cy="35638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521800" cy="356380"/>
              </a:xfrm>
              <a:custGeom>
                <a:avLst/>
                <a:gdLst/>
                <a:ahLst/>
                <a:cxnLst/>
                <a:rect l="l" t="t" r="r" b="b"/>
                <a:pathLst>
                  <a:path w="2521800" h="356380">
                    <a:moveTo>
                      <a:pt x="0" y="0"/>
                    </a:moveTo>
                    <a:lnTo>
                      <a:pt x="2521800" y="0"/>
                    </a:lnTo>
                    <a:lnTo>
                      <a:pt x="2521800" y="356380"/>
                    </a:lnTo>
                    <a:lnTo>
                      <a:pt x="0" y="356380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76200"/>
                <a:ext cx="2521800" cy="4325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559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1552339" y="-161925"/>
              <a:ext cx="793948" cy="196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460"/>
                </a:lnSpc>
              </a:pPr>
              <a:r>
                <a:rPr lang="en-US" sz="89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454862" y="53558"/>
              <a:ext cx="14110479" cy="1556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00"/>
                </a:lnSpc>
              </a:pPr>
              <a:r>
                <a:rPr lang="en-US" sz="7000" b="1">
                  <a:solidFill>
                    <a:srgbClr val="545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Context and motivation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503491" y="9188594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115749" y="0"/>
            <a:ext cx="47625" cy="2944644"/>
            <a:chOff x="0" y="0"/>
            <a:chExt cx="12543" cy="7755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075" y="9962524"/>
            <a:ext cx="16824226" cy="47625"/>
            <a:chOff x="0" y="0"/>
            <a:chExt cx="4431072" cy="125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31072" cy="12543"/>
            </a:xfrm>
            <a:custGeom>
              <a:avLst/>
              <a:gdLst/>
              <a:ahLst/>
              <a:cxnLst/>
              <a:rect l="l" t="t" r="r" b="b"/>
              <a:pathLst>
                <a:path w="4431072" h="12543">
                  <a:moveTo>
                    <a:pt x="0" y="0"/>
                  </a:moveTo>
                  <a:lnTo>
                    <a:pt x="4431072" y="0"/>
                  </a:lnTo>
                  <a:lnTo>
                    <a:pt x="443107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4431072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6795" y="7342356"/>
            <a:ext cx="47625" cy="2944644"/>
            <a:chOff x="0" y="0"/>
            <a:chExt cx="12543" cy="7755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2816" y="891302"/>
            <a:ext cx="47625" cy="910586"/>
            <a:chOff x="0" y="0"/>
            <a:chExt cx="12543" cy="2398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543" cy="239825"/>
            </a:xfrm>
            <a:custGeom>
              <a:avLst/>
              <a:gdLst/>
              <a:ahLst/>
              <a:cxnLst/>
              <a:rect l="l" t="t" r="r" b="b"/>
              <a:pathLst>
                <a:path w="12543" h="239825">
                  <a:moveTo>
                    <a:pt x="0" y="0"/>
                  </a:moveTo>
                  <a:lnTo>
                    <a:pt x="12543" y="0"/>
                  </a:lnTo>
                  <a:lnTo>
                    <a:pt x="12543" y="239825"/>
                  </a:lnTo>
                  <a:lnTo>
                    <a:pt x="0" y="239825"/>
                  </a:lnTo>
                  <a:close/>
                </a:path>
              </a:pathLst>
            </a:custGeom>
            <a:solidFill>
              <a:srgbClr val="FF6633"/>
            </a:solidFill>
            <a:ln w="57150" cap="sq">
              <a:solidFill>
                <a:srgbClr val="FF6633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2543" cy="2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30234" y="932258"/>
            <a:ext cx="7296646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sz="5100" b="1" spc="35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Context and motivation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503491" y="9188594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1213996" y="1732358"/>
            <a:ext cx="14823628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4000" dirty="0" smtClean="0"/>
              <a:t>Hyper-</a:t>
            </a:r>
            <a:r>
              <a:rPr lang="fr-FR" sz="4000" dirty="0" err="1" smtClean="0"/>
              <a:t>representation</a:t>
            </a:r>
            <a:r>
              <a:rPr lang="fr-FR" sz="4000" dirty="0" smtClean="0"/>
              <a:t> </a:t>
            </a:r>
            <a:r>
              <a:rPr lang="fr-FR" sz="4000" dirty="0" err="1" smtClean="0"/>
              <a:t>give</a:t>
            </a:r>
            <a:r>
              <a:rPr lang="fr-FR" sz="4000" dirty="0" smtClean="0"/>
              <a:t> new </a:t>
            </a:r>
            <a:r>
              <a:rPr lang="fr-FR" sz="4000" dirty="0" err="1" smtClean="0"/>
              <a:t>intializations</a:t>
            </a:r>
            <a:r>
              <a:rPr lang="fr-FR" sz="4000" dirty="0" smtClean="0"/>
              <a:t> and are a compact </a:t>
            </a:r>
            <a:r>
              <a:rPr lang="fr-FR" sz="4000" dirty="0" err="1" smtClean="0"/>
              <a:t>way</a:t>
            </a:r>
            <a:r>
              <a:rPr lang="fr-FR" sz="4000" dirty="0" smtClean="0"/>
              <a:t> of </a:t>
            </a:r>
            <a:r>
              <a:rPr lang="fr-FR" sz="4000" dirty="0" err="1" smtClean="0"/>
              <a:t>saving</a:t>
            </a:r>
            <a:r>
              <a:rPr lang="fr-FR" sz="4000" dirty="0" smtClean="0"/>
              <a:t> </a:t>
            </a:r>
            <a:r>
              <a:rPr lang="fr-FR" sz="4000" dirty="0" err="1" smtClean="0"/>
              <a:t>models</a:t>
            </a:r>
            <a:endParaRPr lang="fr-FR" sz="4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4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4000" dirty="0" smtClean="0"/>
              <a:t>Normal </a:t>
            </a:r>
            <a:r>
              <a:rPr lang="fr-FR" sz="4000" dirty="0" err="1" smtClean="0"/>
              <a:t>representations</a:t>
            </a:r>
            <a:r>
              <a:rPr lang="fr-FR" sz="4000" dirty="0" smtClean="0"/>
              <a:t> are </a:t>
            </a:r>
            <a:r>
              <a:rPr lang="fr-FR" sz="4000" dirty="0" err="1" smtClean="0"/>
              <a:t>Unstable</a:t>
            </a:r>
            <a:r>
              <a:rPr lang="fr-FR" sz="4000" dirty="0" smtClean="0"/>
              <a:t> to </a:t>
            </a:r>
            <a:r>
              <a:rPr lang="fr-FR" sz="4000" dirty="0" smtClean="0"/>
              <a:t>train and </a:t>
            </a:r>
            <a:r>
              <a:rPr lang="fr-FR" sz="4000" dirty="0" err="1" smtClean="0"/>
              <a:t>Doesn’t</a:t>
            </a:r>
            <a:r>
              <a:rPr lang="fr-FR" sz="4000" dirty="0" smtClean="0"/>
              <a:t> </a:t>
            </a:r>
            <a:r>
              <a:rPr lang="fr-FR" sz="4000" dirty="0" smtClean="0"/>
              <a:t>capture </a:t>
            </a:r>
            <a:r>
              <a:rPr lang="fr-FR" sz="4000" dirty="0" err="1" smtClean="0"/>
              <a:t>interpretable</a:t>
            </a:r>
            <a:r>
              <a:rPr lang="fr-FR" sz="4000" dirty="0" smtClean="0"/>
              <a:t> or </a:t>
            </a:r>
            <a:r>
              <a:rPr lang="fr-FR" sz="4000" dirty="0" err="1" smtClean="0"/>
              <a:t>semantic</a:t>
            </a:r>
            <a:r>
              <a:rPr lang="fr-FR" sz="4000" dirty="0" smtClean="0"/>
              <a:t> </a:t>
            </a:r>
            <a:r>
              <a:rPr lang="fr-FR" sz="4000" dirty="0" err="1" smtClean="0"/>
              <a:t>Knowledge</a:t>
            </a:r>
            <a:endParaRPr lang="fr-FR" sz="4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4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4000" dirty="0" smtClean="0"/>
              <a:t>The </a:t>
            </a:r>
            <a:r>
              <a:rPr lang="fr-FR" sz="4000" dirty="0" err="1" smtClean="0"/>
              <a:t>rise</a:t>
            </a:r>
            <a:r>
              <a:rPr lang="fr-FR" sz="4000" dirty="0" smtClean="0"/>
              <a:t> of persistant </a:t>
            </a:r>
            <a:r>
              <a:rPr lang="fr-FR" sz="4000" dirty="0" err="1" smtClean="0"/>
              <a:t>Homology</a:t>
            </a:r>
            <a:r>
              <a:rPr lang="fr-FR" sz="4000" dirty="0" smtClean="0"/>
              <a:t> as an </a:t>
            </a:r>
            <a:r>
              <a:rPr lang="fr-FR" sz="4000" dirty="0" err="1" smtClean="0"/>
              <a:t>exploratory</a:t>
            </a:r>
            <a:r>
              <a:rPr lang="fr-FR" sz="4000" dirty="0" smtClean="0"/>
              <a:t> </a:t>
            </a:r>
            <a:r>
              <a:rPr lang="fr-FR" sz="4000" dirty="0" err="1" smtClean="0"/>
              <a:t>tool</a:t>
            </a:r>
            <a:r>
              <a:rPr lang="fr-FR" sz="4000" dirty="0" smtClean="0"/>
              <a:t> and </a:t>
            </a:r>
            <a:r>
              <a:rPr lang="fr-FR" sz="4000" dirty="0" err="1" smtClean="0"/>
              <a:t>later</a:t>
            </a:r>
            <a:r>
              <a:rPr lang="fr-FR" sz="4000" dirty="0" smtClean="0"/>
              <a:t> </a:t>
            </a:r>
            <a:r>
              <a:rPr lang="fr-FR" sz="4000" dirty="0" err="1" smtClean="0"/>
              <a:t>differiable</a:t>
            </a:r>
            <a:r>
              <a:rPr lang="fr-FR" sz="4000" dirty="0" smtClean="0"/>
              <a:t> for </a:t>
            </a:r>
            <a:r>
              <a:rPr lang="fr-FR" sz="4000" dirty="0" err="1" smtClean="0"/>
              <a:t>deep</a:t>
            </a:r>
            <a:r>
              <a:rPr lang="fr-FR" sz="4000" dirty="0" smtClean="0"/>
              <a:t>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4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4000" dirty="0" err="1" smtClean="0"/>
              <a:t>Create</a:t>
            </a:r>
            <a:r>
              <a:rPr lang="fr-FR" sz="4000" dirty="0" smtClean="0"/>
              <a:t> </a:t>
            </a:r>
            <a:r>
              <a:rPr lang="fr-FR" sz="4000" dirty="0" err="1" smtClean="0"/>
              <a:t>models</a:t>
            </a:r>
            <a:r>
              <a:rPr lang="fr-FR" sz="4000" dirty="0" smtClean="0"/>
              <a:t> </a:t>
            </a:r>
            <a:r>
              <a:rPr lang="fr-FR" sz="4000" dirty="0" err="1" smtClean="0"/>
              <a:t>effecients</a:t>
            </a:r>
            <a:r>
              <a:rPr lang="fr-FR" sz="4000" dirty="0" smtClean="0"/>
              <a:t> and </a:t>
            </a:r>
            <a:r>
              <a:rPr lang="fr-FR" sz="4000" dirty="0" err="1" smtClean="0"/>
              <a:t>avoid</a:t>
            </a:r>
            <a:r>
              <a:rPr lang="fr-FR" sz="4000" dirty="0" smtClean="0"/>
              <a:t> the training </a:t>
            </a:r>
            <a:r>
              <a:rPr lang="fr-FR" sz="4000" dirty="0" err="1" smtClean="0"/>
              <a:t>cost</a:t>
            </a:r>
            <a:r>
              <a:rPr lang="fr-FR" sz="4000" dirty="0" smtClean="0"/>
              <a:t> </a:t>
            </a:r>
            <a:r>
              <a:rPr lang="fr-FR" sz="4000" dirty="0" err="1" smtClean="0"/>
              <a:t>bottleneck</a:t>
            </a:r>
            <a:r>
              <a:rPr lang="fr-FR" sz="4000" dirty="0" smtClean="0"/>
              <a:t> in </a:t>
            </a:r>
            <a:r>
              <a:rPr lang="fr-FR" sz="4000" dirty="0" err="1" smtClean="0"/>
              <a:t>continual</a:t>
            </a:r>
            <a:r>
              <a:rPr lang="fr-FR" sz="4000" dirty="0" smtClean="0"/>
              <a:t> </a:t>
            </a:r>
            <a:r>
              <a:rPr lang="fr-FR" sz="4000" dirty="0" err="1" smtClean="0"/>
              <a:t>learning</a:t>
            </a:r>
            <a:endParaRPr lang="fr-FR" sz="4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4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4000" dirty="0" err="1" smtClean="0"/>
              <a:t>Effeciently</a:t>
            </a:r>
            <a:r>
              <a:rPr lang="fr-FR" sz="4000" dirty="0" smtClean="0"/>
              <a:t> </a:t>
            </a:r>
            <a:r>
              <a:rPr lang="fr-FR" sz="4000" dirty="0" err="1" smtClean="0"/>
              <a:t>Merge</a:t>
            </a:r>
            <a:r>
              <a:rPr lang="fr-FR" sz="4000" dirty="0" smtClean="0"/>
              <a:t> </a:t>
            </a:r>
            <a:r>
              <a:rPr lang="fr-FR" sz="4000" dirty="0" err="1" smtClean="0"/>
              <a:t>Models</a:t>
            </a:r>
            <a:r>
              <a:rPr lang="fr-FR" sz="4000" dirty="0" smtClean="0"/>
              <a:t> and </a:t>
            </a:r>
            <a:r>
              <a:rPr lang="fr-FR" sz="4000" dirty="0" err="1" smtClean="0"/>
              <a:t>keep</a:t>
            </a:r>
            <a:r>
              <a:rPr lang="fr-FR" sz="4000" dirty="0" smtClean="0"/>
              <a:t> the best of </a:t>
            </a:r>
            <a:r>
              <a:rPr lang="fr-FR" sz="4000" dirty="0" err="1" smtClean="0"/>
              <a:t>each</a:t>
            </a:r>
            <a:r>
              <a:rPr lang="fr-FR" sz="4000" dirty="0" smtClean="0"/>
              <a:t> </a:t>
            </a:r>
            <a:r>
              <a:rPr lang="fr-FR" sz="4000" dirty="0" err="1" smtClean="0"/>
              <a:t>dataset</a:t>
            </a:r>
            <a:endParaRPr lang="fr-FR" sz="4000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5" y="-3278315"/>
            <a:ext cx="19085464" cy="15530532"/>
          </a:xfrm>
          <a:custGeom>
            <a:avLst/>
            <a:gdLst/>
            <a:ahLst/>
            <a:cxnLst/>
            <a:rect l="l" t="t" r="r" b="b"/>
            <a:pathLst>
              <a:path w="19085464" h="15530532">
                <a:moveTo>
                  <a:pt x="0" y="0"/>
                </a:moveTo>
                <a:lnTo>
                  <a:pt x="19085464" y="0"/>
                </a:lnTo>
                <a:lnTo>
                  <a:pt x="19085464" y="15530531"/>
                </a:lnTo>
                <a:lnTo>
                  <a:pt x="0" y="15530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l="-1301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20992" y="1986682"/>
            <a:ext cx="1221418" cy="7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8"/>
              </a:lnSpc>
            </a:pPr>
            <a:r>
              <a:rPr lang="en-US" sz="4765" i="1" spc="390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01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115749" y="0"/>
            <a:ext cx="47625" cy="2944644"/>
            <a:chOff x="0" y="0"/>
            <a:chExt cx="12543" cy="7755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2075" y="9962524"/>
            <a:ext cx="16824226" cy="47625"/>
            <a:chOff x="0" y="0"/>
            <a:chExt cx="4431072" cy="1254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31072" cy="12543"/>
            </a:xfrm>
            <a:custGeom>
              <a:avLst/>
              <a:gdLst/>
              <a:ahLst/>
              <a:cxnLst/>
              <a:rect l="l" t="t" r="r" b="b"/>
              <a:pathLst>
                <a:path w="4431072" h="12543">
                  <a:moveTo>
                    <a:pt x="0" y="0"/>
                  </a:moveTo>
                  <a:lnTo>
                    <a:pt x="4431072" y="0"/>
                  </a:lnTo>
                  <a:lnTo>
                    <a:pt x="443107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431072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6795" y="7342356"/>
            <a:ext cx="47625" cy="2944644"/>
            <a:chOff x="0" y="0"/>
            <a:chExt cx="12543" cy="7755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4186095" y="4465956"/>
            <a:ext cx="22250980" cy="1355087"/>
            <a:chOff x="0" y="0"/>
            <a:chExt cx="29667973" cy="180678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1304"/>
              <a:ext cx="12766613" cy="1804176"/>
              <a:chOff x="0" y="0"/>
              <a:chExt cx="2521800" cy="35638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521800" cy="356380"/>
              </a:xfrm>
              <a:custGeom>
                <a:avLst/>
                <a:gdLst/>
                <a:ahLst/>
                <a:cxnLst/>
                <a:rect l="l" t="t" r="r" b="b"/>
                <a:pathLst>
                  <a:path w="2521800" h="356380">
                    <a:moveTo>
                      <a:pt x="0" y="0"/>
                    </a:moveTo>
                    <a:lnTo>
                      <a:pt x="2521800" y="0"/>
                    </a:lnTo>
                    <a:lnTo>
                      <a:pt x="2521800" y="356380"/>
                    </a:lnTo>
                    <a:lnTo>
                      <a:pt x="0" y="356380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76200"/>
                <a:ext cx="2521800" cy="4325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559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1552339" y="-161925"/>
              <a:ext cx="793948" cy="196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460"/>
                </a:lnSpc>
              </a:pPr>
              <a:r>
                <a:rPr lang="en-US" sz="89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454862" y="53558"/>
              <a:ext cx="16213111" cy="1556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800"/>
                </a:lnSpc>
              </a:pPr>
              <a:r>
                <a:rPr lang="en-US" sz="7000" b="1">
                  <a:solidFill>
                    <a:srgbClr val="545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Research Objectives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503491" y="9188594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115749" y="0"/>
            <a:ext cx="47625" cy="2944644"/>
            <a:chOff x="0" y="0"/>
            <a:chExt cx="12543" cy="7755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075" y="9962524"/>
            <a:ext cx="16824226" cy="47625"/>
            <a:chOff x="0" y="0"/>
            <a:chExt cx="4431072" cy="125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31072" cy="12543"/>
            </a:xfrm>
            <a:custGeom>
              <a:avLst/>
              <a:gdLst/>
              <a:ahLst/>
              <a:cxnLst/>
              <a:rect l="l" t="t" r="r" b="b"/>
              <a:pathLst>
                <a:path w="4431072" h="12543">
                  <a:moveTo>
                    <a:pt x="0" y="0"/>
                  </a:moveTo>
                  <a:lnTo>
                    <a:pt x="4431072" y="0"/>
                  </a:lnTo>
                  <a:lnTo>
                    <a:pt x="443107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4431072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6795" y="7342356"/>
            <a:ext cx="47625" cy="2944644"/>
            <a:chOff x="0" y="0"/>
            <a:chExt cx="12543" cy="7755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92816" y="891302"/>
            <a:ext cx="47625" cy="910586"/>
            <a:chOff x="0" y="0"/>
            <a:chExt cx="12543" cy="2398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543" cy="239825"/>
            </a:xfrm>
            <a:custGeom>
              <a:avLst/>
              <a:gdLst/>
              <a:ahLst/>
              <a:cxnLst/>
              <a:rect l="l" t="t" r="r" b="b"/>
              <a:pathLst>
                <a:path w="12543" h="239825">
                  <a:moveTo>
                    <a:pt x="0" y="0"/>
                  </a:moveTo>
                  <a:lnTo>
                    <a:pt x="12543" y="0"/>
                  </a:lnTo>
                  <a:lnTo>
                    <a:pt x="12543" y="239825"/>
                  </a:lnTo>
                  <a:lnTo>
                    <a:pt x="0" y="239825"/>
                  </a:lnTo>
                  <a:close/>
                </a:path>
              </a:pathLst>
            </a:custGeom>
            <a:solidFill>
              <a:srgbClr val="FF6633"/>
            </a:solidFill>
            <a:ln w="57150" cap="sq">
              <a:solidFill>
                <a:srgbClr val="FF6633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2543" cy="2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17695" y="932258"/>
            <a:ext cx="6458843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sz="5100" b="1" spc="3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Research Objectives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503491" y="9188594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1143000" y="2019300"/>
            <a:ext cx="15849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3200" dirty="0" err="1" smtClean="0"/>
              <a:t>Showcase</a:t>
            </a:r>
            <a:r>
              <a:rPr lang="fr-FR" sz="3200" dirty="0" smtClean="0"/>
              <a:t> the value of Persistant </a:t>
            </a:r>
            <a:r>
              <a:rPr lang="fr-FR" sz="3200" dirty="0" err="1" smtClean="0"/>
              <a:t>homology</a:t>
            </a:r>
            <a:r>
              <a:rPr lang="fr-FR" sz="3200" dirty="0" smtClean="0"/>
              <a:t> </a:t>
            </a:r>
            <a:endParaRPr lang="fr-FR" sz="3200" dirty="0" smtClean="0"/>
          </a:p>
          <a:p>
            <a:pPr marL="514350" indent="-514350">
              <a:buFont typeface="+mj-lt"/>
              <a:buAutoNum type="arabicPeriod"/>
            </a:pPr>
            <a:endParaRPr lang="fr-FR" sz="3200" dirty="0" smtClean="0"/>
          </a:p>
          <a:p>
            <a:pPr marL="514350" indent="-514350">
              <a:buFont typeface="+mj-lt"/>
              <a:buAutoNum type="arabicPeriod"/>
            </a:pPr>
            <a:r>
              <a:rPr lang="fr-FR" sz="3200" dirty="0" smtClean="0"/>
              <a:t>The addition to </a:t>
            </a:r>
            <a:r>
              <a:rPr lang="fr-FR" sz="3200" dirty="0" err="1" smtClean="0"/>
              <a:t>continual</a:t>
            </a:r>
            <a:r>
              <a:rPr lang="fr-FR" sz="3200" dirty="0" smtClean="0"/>
              <a:t> </a:t>
            </a:r>
            <a:r>
              <a:rPr lang="fr-FR" sz="3200" dirty="0" err="1" smtClean="0"/>
              <a:t>learning</a:t>
            </a:r>
            <a:r>
              <a:rPr lang="fr-FR" sz="3200" dirty="0" smtClean="0"/>
              <a:t> and </a:t>
            </a:r>
            <a:r>
              <a:rPr lang="fr-FR" sz="3200" dirty="0" err="1" smtClean="0"/>
              <a:t>it’s</a:t>
            </a:r>
            <a:r>
              <a:rPr lang="fr-FR" sz="3200" dirty="0" smtClean="0"/>
              <a:t> </a:t>
            </a:r>
            <a:r>
              <a:rPr lang="fr-FR" sz="3200" dirty="0" err="1" smtClean="0"/>
              <a:t>metrics</a:t>
            </a:r>
            <a:endParaRPr lang="fr-FR" sz="3200" dirty="0" smtClean="0"/>
          </a:p>
          <a:p>
            <a:pPr marL="514350" indent="-514350">
              <a:buFont typeface="+mj-lt"/>
              <a:buAutoNum type="arabicPeriod"/>
            </a:pPr>
            <a:endParaRPr lang="fr-FR" sz="3200" dirty="0"/>
          </a:p>
          <a:p>
            <a:pPr marL="514350" indent="-514350">
              <a:buFont typeface="+mj-lt"/>
              <a:buAutoNum type="arabicPeriod"/>
            </a:pPr>
            <a:r>
              <a:rPr lang="fr-FR" sz="3200" dirty="0" smtClean="0"/>
              <a:t>Bridge the </a:t>
            </a:r>
            <a:r>
              <a:rPr lang="fr-FR" sz="3200" dirty="0" err="1" smtClean="0"/>
              <a:t>finetuning</a:t>
            </a:r>
            <a:r>
              <a:rPr lang="fr-FR" sz="3200" dirty="0" smtClean="0"/>
              <a:t> gap of the </a:t>
            </a:r>
            <a:r>
              <a:rPr lang="fr-FR" sz="3200" dirty="0" err="1" smtClean="0"/>
              <a:t>predicted</a:t>
            </a:r>
            <a:r>
              <a:rPr lang="fr-FR" sz="3200" dirty="0" smtClean="0"/>
              <a:t> </a:t>
            </a:r>
            <a:r>
              <a:rPr lang="fr-FR" sz="3200" dirty="0" err="1" smtClean="0"/>
              <a:t>weights</a:t>
            </a:r>
            <a:endParaRPr lang="fr-FR" sz="3200" dirty="0" smtClean="0"/>
          </a:p>
          <a:p>
            <a:pPr marL="514350" indent="-514350">
              <a:buFont typeface="+mj-lt"/>
              <a:buAutoNum type="arabicPeriod"/>
            </a:pPr>
            <a:endParaRPr lang="fr-FR" sz="3200" dirty="0" smtClean="0"/>
          </a:p>
          <a:p>
            <a:pPr marL="514350" indent="-514350">
              <a:buFont typeface="+mj-lt"/>
              <a:buAutoNum type="arabicPeriod"/>
            </a:pPr>
            <a:r>
              <a:rPr lang="fr-FR" sz="3200" dirty="0" smtClean="0"/>
              <a:t>Have more </a:t>
            </a:r>
            <a:r>
              <a:rPr lang="fr-FR" sz="3200" dirty="0" err="1" smtClean="0"/>
              <a:t>semanticly</a:t>
            </a:r>
            <a:r>
              <a:rPr lang="fr-FR" sz="3200" dirty="0" smtClean="0"/>
              <a:t> </a:t>
            </a:r>
            <a:r>
              <a:rPr lang="fr-FR" sz="3200" dirty="0" err="1" smtClean="0"/>
              <a:t>interpretable</a:t>
            </a:r>
            <a:r>
              <a:rPr lang="fr-FR" sz="3200" dirty="0" smtClean="0"/>
              <a:t> and </a:t>
            </a:r>
            <a:r>
              <a:rPr lang="fr-FR" sz="3200" dirty="0" err="1" smtClean="0"/>
              <a:t>condensed</a:t>
            </a:r>
            <a:r>
              <a:rPr lang="fr-FR" sz="3200" dirty="0" smtClean="0"/>
              <a:t> </a:t>
            </a:r>
            <a:r>
              <a:rPr lang="fr-FR" sz="3200" dirty="0" err="1" smtClean="0"/>
              <a:t>representations</a:t>
            </a:r>
            <a:endParaRPr lang="fr-FR" sz="3200" dirty="0" smtClean="0"/>
          </a:p>
          <a:p>
            <a:pPr marL="514350" indent="-514350">
              <a:buFont typeface="+mj-lt"/>
              <a:buAutoNum type="arabicPeriod"/>
            </a:pPr>
            <a:endParaRPr lang="fr-FR" sz="3200" dirty="0"/>
          </a:p>
          <a:p>
            <a:pPr marL="514350" indent="-514350">
              <a:buFont typeface="+mj-lt"/>
              <a:buAutoNum type="arabicPeriod"/>
            </a:pPr>
            <a:r>
              <a:rPr lang="fr-FR" sz="3200" dirty="0" smtClean="0"/>
              <a:t>Gain a </a:t>
            </a:r>
            <a:r>
              <a:rPr lang="fr-FR" sz="3200" dirty="0" err="1" smtClean="0"/>
              <a:t>better</a:t>
            </a:r>
            <a:r>
              <a:rPr lang="fr-FR" sz="3200" dirty="0" smtClean="0"/>
              <a:t> </a:t>
            </a:r>
            <a:r>
              <a:rPr lang="fr-FR" sz="3200" dirty="0" err="1" smtClean="0"/>
              <a:t>understanding</a:t>
            </a:r>
            <a:r>
              <a:rPr lang="fr-FR" sz="3200" dirty="0" smtClean="0"/>
              <a:t> of the </a:t>
            </a:r>
            <a:r>
              <a:rPr lang="fr-FR" sz="3200" dirty="0" err="1" smtClean="0"/>
              <a:t>weight</a:t>
            </a:r>
            <a:r>
              <a:rPr lang="fr-FR" sz="3200" dirty="0" smtClean="0"/>
              <a:t> </a:t>
            </a:r>
            <a:r>
              <a:rPr lang="fr-FR" sz="3200" dirty="0" err="1" smtClean="0"/>
              <a:t>space</a:t>
            </a:r>
            <a:r>
              <a:rPr lang="fr-FR" sz="3200" dirty="0" smtClean="0"/>
              <a:t> Manifold </a:t>
            </a:r>
            <a:endParaRPr lang="fr-FR" sz="3200" dirty="0"/>
          </a:p>
          <a:p>
            <a:pPr marL="514350" indent="-514350">
              <a:buFont typeface="+mj-lt"/>
              <a:buAutoNum type="arabicPeriod"/>
            </a:pPr>
            <a:endParaRPr lang="fr-FR" sz="3200" dirty="0" smtClean="0"/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5" y="-3278315"/>
            <a:ext cx="19085464" cy="15530532"/>
          </a:xfrm>
          <a:custGeom>
            <a:avLst/>
            <a:gdLst/>
            <a:ahLst/>
            <a:cxnLst/>
            <a:rect l="l" t="t" r="r" b="b"/>
            <a:pathLst>
              <a:path w="19085464" h="15530532">
                <a:moveTo>
                  <a:pt x="0" y="0"/>
                </a:moveTo>
                <a:lnTo>
                  <a:pt x="19085464" y="0"/>
                </a:lnTo>
                <a:lnTo>
                  <a:pt x="19085464" y="15530531"/>
                </a:lnTo>
                <a:lnTo>
                  <a:pt x="0" y="15530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l="-1301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20992" y="1986682"/>
            <a:ext cx="1221418" cy="7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8"/>
              </a:lnSpc>
            </a:pPr>
            <a:r>
              <a:rPr lang="en-US" sz="4765" i="1" spc="390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01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115749" y="0"/>
            <a:ext cx="47625" cy="2944644"/>
            <a:chOff x="0" y="0"/>
            <a:chExt cx="12543" cy="7755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2075" y="9962524"/>
            <a:ext cx="16824226" cy="47625"/>
            <a:chOff x="0" y="0"/>
            <a:chExt cx="4431072" cy="1254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31072" cy="12543"/>
            </a:xfrm>
            <a:custGeom>
              <a:avLst/>
              <a:gdLst/>
              <a:ahLst/>
              <a:cxnLst/>
              <a:rect l="l" t="t" r="r" b="b"/>
              <a:pathLst>
                <a:path w="4431072" h="12543">
                  <a:moveTo>
                    <a:pt x="0" y="0"/>
                  </a:moveTo>
                  <a:lnTo>
                    <a:pt x="4431072" y="0"/>
                  </a:lnTo>
                  <a:lnTo>
                    <a:pt x="443107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431072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6795" y="7342356"/>
            <a:ext cx="47625" cy="2944644"/>
            <a:chOff x="0" y="0"/>
            <a:chExt cx="12543" cy="7755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4186095" y="4465956"/>
            <a:ext cx="22250980" cy="1355087"/>
            <a:chOff x="0" y="0"/>
            <a:chExt cx="29667973" cy="180678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2607"/>
              <a:ext cx="12766613" cy="1804176"/>
              <a:chOff x="0" y="0"/>
              <a:chExt cx="2521800" cy="35638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521800" cy="356380"/>
              </a:xfrm>
              <a:custGeom>
                <a:avLst/>
                <a:gdLst/>
                <a:ahLst/>
                <a:cxnLst/>
                <a:rect l="l" t="t" r="r" b="b"/>
                <a:pathLst>
                  <a:path w="2521800" h="356380">
                    <a:moveTo>
                      <a:pt x="0" y="0"/>
                    </a:moveTo>
                    <a:lnTo>
                      <a:pt x="2521800" y="0"/>
                    </a:lnTo>
                    <a:lnTo>
                      <a:pt x="2521800" y="356380"/>
                    </a:lnTo>
                    <a:lnTo>
                      <a:pt x="0" y="356380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76200"/>
                <a:ext cx="2521800" cy="4325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559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1552339" y="-161925"/>
              <a:ext cx="793948" cy="196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460"/>
                </a:lnSpc>
              </a:pPr>
              <a:r>
                <a:rPr lang="en-US" sz="89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454862" y="53558"/>
              <a:ext cx="16213111" cy="1556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800"/>
                </a:lnSpc>
              </a:pPr>
              <a:r>
                <a:rPr lang="en-US" sz="7000" b="1">
                  <a:solidFill>
                    <a:srgbClr val="545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Proposed Approach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503491" y="9188594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115749" y="0"/>
            <a:ext cx="47625" cy="2944644"/>
            <a:chOff x="0" y="0"/>
            <a:chExt cx="12543" cy="7755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075" y="9962524"/>
            <a:ext cx="16824226" cy="47625"/>
            <a:chOff x="0" y="0"/>
            <a:chExt cx="4431072" cy="125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31072" cy="12543"/>
            </a:xfrm>
            <a:custGeom>
              <a:avLst/>
              <a:gdLst/>
              <a:ahLst/>
              <a:cxnLst/>
              <a:rect l="l" t="t" r="r" b="b"/>
              <a:pathLst>
                <a:path w="4431072" h="12543">
                  <a:moveTo>
                    <a:pt x="0" y="0"/>
                  </a:moveTo>
                  <a:lnTo>
                    <a:pt x="4431072" y="0"/>
                  </a:lnTo>
                  <a:lnTo>
                    <a:pt x="443107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4431072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6795" y="7342356"/>
            <a:ext cx="47625" cy="2944644"/>
            <a:chOff x="0" y="0"/>
            <a:chExt cx="12543" cy="7755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92816" y="891302"/>
            <a:ext cx="47625" cy="910586"/>
            <a:chOff x="0" y="0"/>
            <a:chExt cx="12543" cy="2398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543" cy="239825"/>
            </a:xfrm>
            <a:custGeom>
              <a:avLst/>
              <a:gdLst/>
              <a:ahLst/>
              <a:cxnLst/>
              <a:rect l="l" t="t" r="r" b="b"/>
              <a:pathLst>
                <a:path w="12543" h="239825">
                  <a:moveTo>
                    <a:pt x="0" y="0"/>
                  </a:moveTo>
                  <a:lnTo>
                    <a:pt x="12543" y="0"/>
                  </a:lnTo>
                  <a:lnTo>
                    <a:pt x="12543" y="239825"/>
                  </a:lnTo>
                  <a:lnTo>
                    <a:pt x="0" y="239825"/>
                  </a:lnTo>
                  <a:close/>
                </a:path>
              </a:pathLst>
            </a:custGeom>
            <a:solidFill>
              <a:srgbClr val="FF6633"/>
            </a:solidFill>
            <a:ln w="57150" cap="sq">
              <a:solidFill>
                <a:srgbClr val="FF6633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2543" cy="2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20870" y="932258"/>
            <a:ext cx="6242943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sz="5100" b="1" spc="3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Proposed Approach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503491" y="9188594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341" y="2293141"/>
            <a:ext cx="9388654" cy="3688400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3288" y="6595201"/>
            <a:ext cx="6410168" cy="2871366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8690" y="6422778"/>
            <a:ext cx="5929312" cy="348615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76" y="6035137"/>
            <a:ext cx="4383562" cy="37595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5" y="-3278315"/>
            <a:ext cx="19085464" cy="15530532"/>
          </a:xfrm>
          <a:custGeom>
            <a:avLst/>
            <a:gdLst/>
            <a:ahLst/>
            <a:cxnLst/>
            <a:rect l="l" t="t" r="r" b="b"/>
            <a:pathLst>
              <a:path w="19085464" h="15530532">
                <a:moveTo>
                  <a:pt x="0" y="0"/>
                </a:moveTo>
                <a:lnTo>
                  <a:pt x="19085464" y="0"/>
                </a:lnTo>
                <a:lnTo>
                  <a:pt x="19085464" y="15530531"/>
                </a:lnTo>
                <a:lnTo>
                  <a:pt x="0" y="15530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l="-1301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20992" y="1986682"/>
            <a:ext cx="1221418" cy="7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8"/>
              </a:lnSpc>
            </a:pPr>
            <a:r>
              <a:rPr lang="en-US" sz="4765" i="1" spc="390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01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115749" y="0"/>
            <a:ext cx="47625" cy="2944644"/>
            <a:chOff x="0" y="0"/>
            <a:chExt cx="12543" cy="7755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2075" y="9962524"/>
            <a:ext cx="16824226" cy="47625"/>
            <a:chOff x="0" y="0"/>
            <a:chExt cx="4431072" cy="1254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31072" cy="12543"/>
            </a:xfrm>
            <a:custGeom>
              <a:avLst/>
              <a:gdLst/>
              <a:ahLst/>
              <a:cxnLst/>
              <a:rect l="l" t="t" r="r" b="b"/>
              <a:pathLst>
                <a:path w="4431072" h="12543">
                  <a:moveTo>
                    <a:pt x="0" y="0"/>
                  </a:moveTo>
                  <a:lnTo>
                    <a:pt x="4431072" y="0"/>
                  </a:lnTo>
                  <a:lnTo>
                    <a:pt x="443107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431072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6795" y="7342356"/>
            <a:ext cx="47625" cy="2944644"/>
            <a:chOff x="0" y="0"/>
            <a:chExt cx="12543" cy="7755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4186095" y="4465956"/>
            <a:ext cx="22250980" cy="1355087"/>
            <a:chOff x="0" y="0"/>
            <a:chExt cx="29667973" cy="180678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2607"/>
              <a:ext cx="12766613" cy="1804176"/>
              <a:chOff x="0" y="0"/>
              <a:chExt cx="2521800" cy="35638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521800" cy="356380"/>
              </a:xfrm>
              <a:custGeom>
                <a:avLst/>
                <a:gdLst/>
                <a:ahLst/>
                <a:cxnLst/>
                <a:rect l="l" t="t" r="r" b="b"/>
                <a:pathLst>
                  <a:path w="2521800" h="356380">
                    <a:moveTo>
                      <a:pt x="0" y="0"/>
                    </a:moveTo>
                    <a:lnTo>
                      <a:pt x="2521800" y="0"/>
                    </a:lnTo>
                    <a:lnTo>
                      <a:pt x="2521800" y="356380"/>
                    </a:lnTo>
                    <a:lnTo>
                      <a:pt x="0" y="356380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76200"/>
                <a:ext cx="2521800" cy="4325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559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1552339" y="-161925"/>
              <a:ext cx="793948" cy="196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460"/>
                </a:lnSpc>
              </a:pPr>
              <a:r>
                <a:rPr lang="en-US" sz="89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454862" y="53558"/>
              <a:ext cx="16213111" cy="1556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800"/>
                </a:lnSpc>
              </a:pPr>
              <a:r>
                <a:rPr lang="en-US" sz="7000" b="1">
                  <a:solidFill>
                    <a:srgbClr val="545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Experimental Results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503491" y="9188594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115749" y="0"/>
            <a:ext cx="47625" cy="2944644"/>
            <a:chOff x="0" y="0"/>
            <a:chExt cx="12543" cy="7755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075" y="9962524"/>
            <a:ext cx="16824226" cy="47625"/>
            <a:chOff x="0" y="0"/>
            <a:chExt cx="4431072" cy="125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31072" cy="12543"/>
            </a:xfrm>
            <a:custGeom>
              <a:avLst/>
              <a:gdLst/>
              <a:ahLst/>
              <a:cxnLst/>
              <a:rect l="l" t="t" r="r" b="b"/>
              <a:pathLst>
                <a:path w="4431072" h="12543">
                  <a:moveTo>
                    <a:pt x="0" y="0"/>
                  </a:moveTo>
                  <a:lnTo>
                    <a:pt x="4431072" y="0"/>
                  </a:lnTo>
                  <a:lnTo>
                    <a:pt x="443107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4431072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6795" y="7342356"/>
            <a:ext cx="47625" cy="2944644"/>
            <a:chOff x="0" y="0"/>
            <a:chExt cx="12543" cy="7755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92816" y="891302"/>
            <a:ext cx="47625" cy="910586"/>
            <a:chOff x="0" y="0"/>
            <a:chExt cx="12543" cy="2398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543" cy="239825"/>
            </a:xfrm>
            <a:custGeom>
              <a:avLst/>
              <a:gdLst/>
              <a:ahLst/>
              <a:cxnLst/>
              <a:rect l="l" t="t" r="r" b="b"/>
              <a:pathLst>
                <a:path w="12543" h="239825">
                  <a:moveTo>
                    <a:pt x="0" y="0"/>
                  </a:moveTo>
                  <a:lnTo>
                    <a:pt x="12543" y="0"/>
                  </a:lnTo>
                  <a:lnTo>
                    <a:pt x="12543" y="239825"/>
                  </a:lnTo>
                  <a:lnTo>
                    <a:pt x="0" y="239825"/>
                  </a:lnTo>
                  <a:close/>
                </a:path>
              </a:pathLst>
            </a:custGeom>
            <a:solidFill>
              <a:srgbClr val="FF6633"/>
            </a:solidFill>
            <a:ln w="57150" cap="sq">
              <a:solidFill>
                <a:srgbClr val="FF6633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2543" cy="2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64266" y="932258"/>
            <a:ext cx="667811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sz="5100" b="1" spc="35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Experimental Results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372820" y="9188594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541" y="2107633"/>
            <a:ext cx="5639289" cy="3703641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84" y="2177163"/>
            <a:ext cx="5639289" cy="3703641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8185" y="6994575"/>
            <a:ext cx="7467600" cy="2616346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60" y="6299867"/>
            <a:ext cx="9457348" cy="33134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318599"/>
            <a:ext cx="7223774" cy="5385827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18599"/>
            <a:ext cx="7290703" cy="6679321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7009577"/>
            <a:ext cx="11445254" cy="330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02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0644" y="4613910"/>
            <a:ext cx="6300216" cy="545211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0" y="11315700"/>
            <a:ext cx="6248400" cy="362421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613910"/>
            <a:ext cx="5518505" cy="48006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335" y="1638300"/>
            <a:ext cx="5441702" cy="466606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13104947"/>
            <a:ext cx="8524875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15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5" y="-3278315"/>
            <a:ext cx="19085464" cy="15530532"/>
          </a:xfrm>
          <a:custGeom>
            <a:avLst/>
            <a:gdLst/>
            <a:ahLst/>
            <a:cxnLst/>
            <a:rect l="l" t="t" r="r" b="b"/>
            <a:pathLst>
              <a:path w="19085464" h="15530532">
                <a:moveTo>
                  <a:pt x="0" y="0"/>
                </a:moveTo>
                <a:lnTo>
                  <a:pt x="19085464" y="0"/>
                </a:lnTo>
                <a:lnTo>
                  <a:pt x="19085464" y="15530531"/>
                </a:lnTo>
                <a:lnTo>
                  <a:pt x="0" y="15530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l="-1301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20992" y="1986682"/>
            <a:ext cx="1221418" cy="7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8"/>
              </a:lnSpc>
            </a:pPr>
            <a:r>
              <a:rPr lang="en-US" sz="4765" i="1" spc="390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01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115749" y="0"/>
            <a:ext cx="47625" cy="2944644"/>
            <a:chOff x="0" y="0"/>
            <a:chExt cx="12543" cy="7755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2075" y="9962524"/>
            <a:ext cx="16824226" cy="47625"/>
            <a:chOff x="0" y="0"/>
            <a:chExt cx="4431072" cy="1254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31072" cy="12543"/>
            </a:xfrm>
            <a:custGeom>
              <a:avLst/>
              <a:gdLst/>
              <a:ahLst/>
              <a:cxnLst/>
              <a:rect l="l" t="t" r="r" b="b"/>
              <a:pathLst>
                <a:path w="4431072" h="12543">
                  <a:moveTo>
                    <a:pt x="0" y="0"/>
                  </a:moveTo>
                  <a:lnTo>
                    <a:pt x="4431072" y="0"/>
                  </a:lnTo>
                  <a:lnTo>
                    <a:pt x="443107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431072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6795" y="7342356"/>
            <a:ext cx="47625" cy="2944644"/>
            <a:chOff x="0" y="0"/>
            <a:chExt cx="12543" cy="7755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4186095" y="4465956"/>
            <a:ext cx="22404138" cy="1355087"/>
            <a:chOff x="0" y="0"/>
            <a:chExt cx="29872184" cy="180678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1304"/>
              <a:ext cx="12766613" cy="1804176"/>
              <a:chOff x="0" y="0"/>
              <a:chExt cx="2521800" cy="35638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521800" cy="356380"/>
              </a:xfrm>
              <a:custGeom>
                <a:avLst/>
                <a:gdLst/>
                <a:ahLst/>
                <a:cxnLst/>
                <a:rect l="l" t="t" r="r" b="b"/>
                <a:pathLst>
                  <a:path w="2521800" h="356380">
                    <a:moveTo>
                      <a:pt x="0" y="0"/>
                    </a:moveTo>
                    <a:lnTo>
                      <a:pt x="2521800" y="0"/>
                    </a:lnTo>
                    <a:lnTo>
                      <a:pt x="2521800" y="356380"/>
                    </a:lnTo>
                    <a:lnTo>
                      <a:pt x="0" y="356380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76200"/>
                <a:ext cx="2521800" cy="4325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559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1552339" y="-161925"/>
              <a:ext cx="793948" cy="196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460"/>
                </a:lnSpc>
              </a:pPr>
              <a:r>
                <a:rPr lang="en-US" sz="89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990324" y="53558"/>
              <a:ext cx="16881860" cy="1556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800"/>
                </a:lnSpc>
              </a:pPr>
              <a:r>
                <a:rPr lang="en-US" sz="7000" b="1">
                  <a:solidFill>
                    <a:srgbClr val="545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Conclusion and Future Work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372820" y="9188594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115749" y="0"/>
            <a:ext cx="47625" cy="2944644"/>
            <a:chOff x="0" y="0"/>
            <a:chExt cx="12543" cy="7755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075" y="9962524"/>
            <a:ext cx="16824226" cy="47625"/>
            <a:chOff x="0" y="0"/>
            <a:chExt cx="4431072" cy="125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31072" cy="12543"/>
            </a:xfrm>
            <a:custGeom>
              <a:avLst/>
              <a:gdLst/>
              <a:ahLst/>
              <a:cxnLst/>
              <a:rect l="l" t="t" r="r" b="b"/>
              <a:pathLst>
                <a:path w="4431072" h="12543">
                  <a:moveTo>
                    <a:pt x="0" y="0"/>
                  </a:moveTo>
                  <a:lnTo>
                    <a:pt x="4431072" y="0"/>
                  </a:lnTo>
                  <a:lnTo>
                    <a:pt x="443107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4431072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6795" y="7342356"/>
            <a:ext cx="47625" cy="2944644"/>
            <a:chOff x="0" y="0"/>
            <a:chExt cx="12543" cy="7755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92816" y="891302"/>
            <a:ext cx="47625" cy="910586"/>
            <a:chOff x="0" y="0"/>
            <a:chExt cx="12543" cy="2398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543" cy="239825"/>
            </a:xfrm>
            <a:custGeom>
              <a:avLst/>
              <a:gdLst/>
              <a:ahLst/>
              <a:cxnLst/>
              <a:rect l="l" t="t" r="r" b="b"/>
              <a:pathLst>
                <a:path w="12543" h="239825">
                  <a:moveTo>
                    <a:pt x="0" y="0"/>
                  </a:moveTo>
                  <a:lnTo>
                    <a:pt x="12543" y="0"/>
                  </a:lnTo>
                  <a:lnTo>
                    <a:pt x="12543" y="239825"/>
                  </a:lnTo>
                  <a:lnTo>
                    <a:pt x="0" y="239825"/>
                  </a:lnTo>
                  <a:close/>
                </a:path>
              </a:pathLst>
            </a:custGeom>
            <a:solidFill>
              <a:srgbClr val="FF6633"/>
            </a:solidFill>
            <a:ln w="57150" cap="sq">
              <a:solidFill>
                <a:srgbClr val="FF6633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2543" cy="2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0" y="932258"/>
            <a:ext cx="10835141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sz="5100" b="1" spc="3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Conclusion and Future Work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372820" y="9188594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204829" y="2220131"/>
            <a:ext cx="17903299" cy="99411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4000" dirty="0" err="1" smtClean="0"/>
              <a:t>Weights</a:t>
            </a:r>
            <a:r>
              <a:rPr lang="fr-FR" sz="4000" dirty="0" smtClean="0"/>
              <a:t> </a:t>
            </a:r>
            <a:r>
              <a:rPr lang="fr-FR" sz="4000" dirty="0" err="1" smtClean="0"/>
              <a:t>that</a:t>
            </a:r>
            <a:r>
              <a:rPr lang="fr-FR" sz="4000" dirty="0" smtClean="0"/>
              <a:t> are </a:t>
            </a:r>
            <a:r>
              <a:rPr lang="fr-FR" sz="4000" dirty="0" err="1" smtClean="0"/>
              <a:t>highly</a:t>
            </a:r>
            <a:r>
              <a:rPr lang="fr-FR" sz="4000" dirty="0" smtClean="0"/>
              <a:t> </a:t>
            </a:r>
            <a:r>
              <a:rPr lang="fr-FR" sz="4000" dirty="0" err="1" smtClean="0"/>
              <a:t>Correlated</a:t>
            </a:r>
            <a:r>
              <a:rPr lang="fr-FR" sz="4000" dirty="0" smtClean="0"/>
              <a:t> are not </a:t>
            </a:r>
            <a:r>
              <a:rPr lang="fr-FR" sz="4000" dirty="0" err="1" smtClean="0"/>
              <a:t>necessarly</a:t>
            </a:r>
            <a:r>
              <a:rPr lang="fr-FR" sz="4000" dirty="0" smtClean="0"/>
              <a:t> the </a:t>
            </a:r>
            <a:r>
              <a:rPr lang="fr-FR" sz="4000" dirty="0" err="1" smtClean="0"/>
              <a:t>most</a:t>
            </a:r>
            <a:r>
              <a:rPr lang="fr-FR" sz="4000" dirty="0" smtClean="0"/>
              <a:t> </a:t>
            </a:r>
            <a:r>
              <a:rPr lang="fr-FR" sz="4000" dirty="0" err="1" smtClean="0"/>
              <a:t>critical</a:t>
            </a:r>
            <a:r>
              <a:rPr lang="fr-FR" sz="4000" dirty="0" smtClean="0"/>
              <a:t> for </a:t>
            </a:r>
            <a:r>
              <a:rPr lang="fr-FR" sz="4000" dirty="0" err="1" smtClean="0"/>
              <a:t>learning</a:t>
            </a:r>
            <a:r>
              <a:rPr lang="fr-FR" sz="4000" dirty="0" smtClean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4000" dirty="0" err="1" smtClean="0"/>
              <a:t>Having</a:t>
            </a:r>
            <a:r>
              <a:rPr lang="fr-FR" sz="4000" dirty="0" smtClean="0"/>
              <a:t> a </a:t>
            </a:r>
            <a:r>
              <a:rPr lang="fr-FR" sz="4000" dirty="0" err="1" smtClean="0"/>
              <a:t>higher</a:t>
            </a:r>
            <a:r>
              <a:rPr lang="fr-FR" sz="4000" dirty="0" smtClean="0"/>
              <a:t> rate of </a:t>
            </a:r>
            <a:r>
              <a:rPr lang="fr-FR" sz="4000" dirty="0" err="1" smtClean="0"/>
              <a:t>overlap</a:t>
            </a:r>
            <a:r>
              <a:rPr lang="fr-FR" sz="4000" dirty="0" smtClean="0"/>
              <a:t> </a:t>
            </a:r>
            <a:r>
              <a:rPr lang="fr-FR" sz="4000" dirty="0" err="1" smtClean="0"/>
              <a:t>makes</a:t>
            </a:r>
            <a:r>
              <a:rPr lang="fr-FR" sz="4000" dirty="0" smtClean="0"/>
              <a:t> the fusion </a:t>
            </a:r>
            <a:r>
              <a:rPr lang="fr-FR" sz="4000" dirty="0" err="1" smtClean="0"/>
              <a:t>process</a:t>
            </a:r>
            <a:r>
              <a:rPr lang="fr-FR" sz="4000" dirty="0" smtClean="0"/>
              <a:t> </a:t>
            </a:r>
            <a:r>
              <a:rPr lang="fr-FR" sz="4000" dirty="0" err="1" smtClean="0"/>
              <a:t>easier</a:t>
            </a:r>
            <a:endParaRPr lang="fr-FR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4000" dirty="0" smtClean="0"/>
              <a:t>Hyper-</a:t>
            </a:r>
            <a:r>
              <a:rPr lang="fr-FR" sz="4000" dirty="0" err="1" smtClean="0"/>
              <a:t>representations</a:t>
            </a:r>
            <a:r>
              <a:rPr lang="fr-FR" sz="4000" dirty="0" smtClean="0"/>
              <a:t> </a:t>
            </a:r>
            <a:r>
              <a:rPr lang="fr-FR" sz="4000" dirty="0" err="1" smtClean="0"/>
              <a:t>obey</a:t>
            </a:r>
            <a:r>
              <a:rPr lang="fr-FR" sz="4000" dirty="0" smtClean="0"/>
              <a:t> </a:t>
            </a:r>
            <a:r>
              <a:rPr lang="fr-FR" sz="4000" dirty="0" err="1" smtClean="0"/>
              <a:t>theoritical</a:t>
            </a:r>
            <a:r>
              <a:rPr lang="fr-FR" sz="4000" dirty="0" smtClean="0"/>
              <a:t> </a:t>
            </a:r>
            <a:r>
              <a:rPr lang="fr-FR" sz="4000" dirty="0" err="1" smtClean="0"/>
              <a:t>eigenvalue</a:t>
            </a:r>
            <a:r>
              <a:rPr lang="fr-FR" sz="4000" dirty="0" smtClean="0"/>
              <a:t> </a:t>
            </a:r>
            <a:r>
              <a:rPr lang="fr-FR" sz="4000" dirty="0" err="1" smtClean="0"/>
              <a:t>assymptotic</a:t>
            </a:r>
            <a:r>
              <a:rPr lang="fr-FR" sz="4000" dirty="0" smtClean="0"/>
              <a:t> </a:t>
            </a:r>
            <a:r>
              <a:rPr lang="fr-FR" sz="4000" dirty="0" err="1" smtClean="0"/>
              <a:t>rules</a:t>
            </a:r>
            <a:r>
              <a:rPr lang="fr-FR" sz="4000" dirty="0" smtClean="0"/>
              <a:t> </a:t>
            </a:r>
            <a:r>
              <a:rPr lang="fr-FR" sz="4000" dirty="0" err="1" smtClean="0"/>
              <a:t>even</a:t>
            </a:r>
            <a:r>
              <a:rPr lang="fr-FR" sz="4000" dirty="0" smtClean="0"/>
              <a:t> in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4000" dirty="0" err="1" smtClean="0"/>
              <a:t>small</a:t>
            </a:r>
            <a:r>
              <a:rPr lang="fr-FR" sz="4000" dirty="0" smtClean="0"/>
              <a:t> </a:t>
            </a:r>
            <a:r>
              <a:rPr lang="fr-FR" sz="4000" dirty="0" err="1" smtClean="0"/>
              <a:t>number</a:t>
            </a:r>
            <a:r>
              <a:rPr lang="fr-FR" sz="4000" dirty="0" smtClean="0"/>
              <a:t> </a:t>
            </a:r>
            <a:r>
              <a:rPr lang="fr-FR" sz="4000" dirty="0" err="1" smtClean="0"/>
              <a:t>showcasing</a:t>
            </a:r>
            <a:r>
              <a:rPr lang="fr-FR" sz="4000" dirty="0" smtClean="0"/>
              <a:t> </a:t>
            </a:r>
            <a:r>
              <a:rPr lang="fr-FR" sz="4000" dirty="0" err="1" smtClean="0"/>
              <a:t>their</a:t>
            </a:r>
            <a:r>
              <a:rPr lang="fr-FR" sz="4000" dirty="0" smtClean="0"/>
              <a:t> </a:t>
            </a:r>
            <a:r>
              <a:rPr lang="fr-FR" sz="4000" dirty="0" err="1" smtClean="0"/>
              <a:t>compactiness</a:t>
            </a:r>
            <a:endParaRPr lang="fr-FR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4000" dirty="0" smtClean="0"/>
              <a:t>The </a:t>
            </a:r>
            <a:r>
              <a:rPr lang="fr-FR" sz="4000" dirty="0" err="1" smtClean="0"/>
              <a:t>Weights</a:t>
            </a:r>
            <a:r>
              <a:rPr lang="fr-FR" sz="4000" dirty="0" smtClean="0"/>
              <a:t> </a:t>
            </a:r>
            <a:r>
              <a:rPr lang="fr-FR" sz="4000" dirty="0" err="1" smtClean="0"/>
              <a:t>precited</a:t>
            </a:r>
            <a:r>
              <a:rPr lang="fr-FR" sz="4000" dirty="0" smtClean="0"/>
              <a:t> </a:t>
            </a:r>
            <a:r>
              <a:rPr lang="fr-FR" sz="4000" dirty="0" err="1" smtClean="0"/>
              <a:t>from</a:t>
            </a:r>
            <a:r>
              <a:rPr lang="fr-FR" sz="4000" dirty="0" smtClean="0"/>
              <a:t> </a:t>
            </a:r>
            <a:r>
              <a:rPr lang="fr-FR" sz="4000" dirty="0" err="1" smtClean="0"/>
              <a:t>different</a:t>
            </a:r>
            <a:r>
              <a:rPr lang="fr-FR" sz="4000" dirty="0" smtClean="0"/>
              <a:t> hyper-</a:t>
            </a:r>
            <a:r>
              <a:rPr lang="fr-FR" sz="4000" dirty="0" err="1" smtClean="0"/>
              <a:t>representations</a:t>
            </a:r>
            <a:r>
              <a:rPr lang="fr-FR" sz="4000" dirty="0" smtClean="0"/>
              <a:t> </a:t>
            </a:r>
            <a:r>
              <a:rPr lang="fr-FR" sz="4000" dirty="0" err="1" smtClean="0"/>
              <a:t>seem</a:t>
            </a:r>
            <a:r>
              <a:rPr lang="fr-FR" sz="4000" dirty="0" smtClean="0"/>
              <a:t> to collapse to the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4000" dirty="0" smtClean="0"/>
              <a:t>Mode but in </a:t>
            </a:r>
            <a:r>
              <a:rPr lang="fr-FR" sz="4000" dirty="0" err="1" smtClean="0"/>
              <a:t>fact</a:t>
            </a:r>
            <a:r>
              <a:rPr lang="fr-FR" sz="4000" dirty="0" smtClean="0"/>
              <a:t> are </a:t>
            </a:r>
            <a:r>
              <a:rPr lang="fr-FR" sz="4000" dirty="0" err="1" smtClean="0"/>
              <a:t>very</a:t>
            </a:r>
            <a:r>
              <a:rPr lang="fr-FR" sz="4000" dirty="0" smtClean="0"/>
              <a:t> </a:t>
            </a:r>
            <a:r>
              <a:rPr lang="fr-FR" sz="4000" dirty="0" err="1" smtClean="0"/>
              <a:t>similar</a:t>
            </a:r>
            <a:r>
              <a:rPr lang="fr-FR" sz="4000" dirty="0" smtClean="0"/>
              <a:t> </a:t>
            </a:r>
            <a:r>
              <a:rPr lang="fr-FR" sz="4000" dirty="0" err="1" smtClean="0"/>
              <a:t>topologicaly</a:t>
            </a:r>
            <a:r>
              <a:rPr lang="fr-FR" sz="4000" dirty="0" smtClean="0"/>
              <a:t> </a:t>
            </a:r>
            <a:r>
              <a:rPr lang="fr-FR" sz="4000" dirty="0" err="1" smtClean="0"/>
              <a:t>depending</a:t>
            </a:r>
            <a:r>
              <a:rPr lang="fr-FR" sz="4000" dirty="0" smtClean="0"/>
              <a:t> on the </a:t>
            </a:r>
            <a:r>
              <a:rPr lang="fr-FR" sz="4000" dirty="0" err="1" smtClean="0"/>
              <a:t>loss</a:t>
            </a:r>
            <a:r>
              <a:rPr lang="fr-FR" sz="4000" dirty="0" smtClean="0"/>
              <a:t> </a:t>
            </a:r>
            <a:r>
              <a:rPr lang="fr-FR" sz="4000" dirty="0" err="1" smtClean="0"/>
              <a:t>function</a:t>
            </a:r>
            <a:endParaRPr lang="fr-FR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4000" dirty="0" err="1" smtClean="0"/>
              <a:t>Statistical</a:t>
            </a:r>
            <a:r>
              <a:rPr lang="fr-FR" sz="4000" dirty="0" smtClean="0"/>
              <a:t> structure </a:t>
            </a:r>
            <a:r>
              <a:rPr lang="fr-FR" sz="4000" dirty="0" err="1" smtClean="0"/>
              <a:t>is</a:t>
            </a:r>
            <a:r>
              <a:rPr lang="fr-FR" sz="4000" dirty="0" smtClean="0"/>
              <a:t> a </a:t>
            </a:r>
            <a:r>
              <a:rPr lang="fr-FR" sz="4000" dirty="0" err="1" smtClean="0"/>
              <a:t>byproduct</a:t>
            </a:r>
            <a:r>
              <a:rPr lang="fr-FR" sz="4000" dirty="0" smtClean="0"/>
              <a:t> of primordial </a:t>
            </a:r>
            <a:r>
              <a:rPr lang="fr-FR" sz="4000" dirty="0" err="1" smtClean="0"/>
              <a:t>topological</a:t>
            </a:r>
            <a:r>
              <a:rPr lang="fr-FR" sz="4000" dirty="0" smtClean="0"/>
              <a:t> and spectral structure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sz="40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9608" y="6640522"/>
            <a:ext cx="15408784" cy="3053741"/>
          </a:xfrm>
          <a:custGeom>
            <a:avLst/>
            <a:gdLst/>
            <a:ahLst/>
            <a:cxnLst/>
            <a:rect l="l" t="t" r="r" b="b"/>
            <a:pathLst>
              <a:path w="15408784" h="3053741">
                <a:moveTo>
                  <a:pt x="0" y="0"/>
                </a:moveTo>
                <a:lnTo>
                  <a:pt x="15408784" y="0"/>
                </a:lnTo>
                <a:lnTo>
                  <a:pt x="15408784" y="3053741"/>
                </a:lnTo>
                <a:lnTo>
                  <a:pt x="0" y="30537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39608" y="5476723"/>
            <a:ext cx="15408784" cy="3857777"/>
            <a:chOff x="0" y="0"/>
            <a:chExt cx="4058280" cy="1016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58281" cy="1016040"/>
            </a:xfrm>
            <a:custGeom>
              <a:avLst/>
              <a:gdLst/>
              <a:ahLst/>
              <a:cxnLst/>
              <a:rect l="l" t="t" r="r" b="b"/>
              <a:pathLst>
                <a:path w="4058281" h="1016040">
                  <a:moveTo>
                    <a:pt x="16580" y="0"/>
                  </a:moveTo>
                  <a:lnTo>
                    <a:pt x="4041700" y="0"/>
                  </a:lnTo>
                  <a:cubicBezTo>
                    <a:pt x="4050857" y="0"/>
                    <a:pt x="4058281" y="7423"/>
                    <a:pt x="4058281" y="16580"/>
                  </a:cubicBezTo>
                  <a:lnTo>
                    <a:pt x="4058281" y="999460"/>
                  </a:lnTo>
                  <a:cubicBezTo>
                    <a:pt x="4058281" y="1008617"/>
                    <a:pt x="4050857" y="1016040"/>
                    <a:pt x="4041700" y="1016040"/>
                  </a:cubicBezTo>
                  <a:lnTo>
                    <a:pt x="16580" y="1016040"/>
                  </a:lnTo>
                  <a:cubicBezTo>
                    <a:pt x="7423" y="1016040"/>
                    <a:pt x="0" y="1008617"/>
                    <a:pt x="0" y="999460"/>
                  </a:cubicBezTo>
                  <a:lnTo>
                    <a:pt x="0" y="16580"/>
                  </a:lnTo>
                  <a:cubicBezTo>
                    <a:pt x="0" y="7423"/>
                    <a:pt x="7423" y="0"/>
                    <a:pt x="165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058280" cy="1054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39608" y="4906346"/>
            <a:ext cx="3081757" cy="303677"/>
            <a:chOff x="0" y="0"/>
            <a:chExt cx="811656" cy="799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1656" cy="79981"/>
            </a:xfrm>
            <a:custGeom>
              <a:avLst/>
              <a:gdLst/>
              <a:ahLst/>
              <a:cxnLst/>
              <a:rect l="l" t="t" r="r" b="b"/>
              <a:pathLst>
                <a:path w="811656" h="79981">
                  <a:moveTo>
                    <a:pt x="39990" y="0"/>
                  </a:moveTo>
                  <a:lnTo>
                    <a:pt x="771666" y="0"/>
                  </a:lnTo>
                  <a:cubicBezTo>
                    <a:pt x="793752" y="0"/>
                    <a:pt x="811656" y="17904"/>
                    <a:pt x="811656" y="39990"/>
                  </a:cubicBezTo>
                  <a:lnTo>
                    <a:pt x="811656" y="39990"/>
                  </a:lnTo>
                  <a:cubicBezTo>
                    <a:pt x="811656" y="62076"/>
                    <a:pt x="793752" y="79981"/>
                    <a:pt x="771666" y="79981"/>
                  </a:cubicBezTo>
                  <a:lnTo>
                    <a:pt x="39990" y="79981"/>
                  </a:lnTo>
                  <a:cubicBezTo>
                    <a:pt x="17904" y="79981"/>
                    <a:pt x="0" y="62076"/>
                    <a:pt x="0" y="39990"/>
                  </a:cubicBezTo>
                  <a:lnTo>
                    <a:pt x="0" y="39990"/>
                  </a:lnTo>
                  <a:cubicBezTo>
                    <a:pt x="0" y="17904"/>
                    <a:pt x="17904" y="0"/>
                    <a:pt x="3999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1656" cy="118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21365" y="4906346"/>
            <a:ext cx="3081757" cy="303677"/>
            <a:chOff x="0" y="0"/>
            <a:chExt cx="811656" cy="799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1656" cy="79981"/>
            </a:xfrm>
            <a:custGeom>
              <a:avLst/>
              <a:gdLst/>
              <a:ahLst/>
              <a:cxnLst/>
              <a:rect l="l" t="t" r="r" b="b"/>
              <a:pathLst>
                <a:path w="811656" h="79981">
                  <a:moveTo>
                    <a:pt x="39990" y="0"/>
                  </a:moveTo>
                  <a:lnTo>
                    <a:pt x="771666" y="0"/>
                  </a:lnTo>
                  <a:cubicBezTo>
                    <a:pt x="793752" y="0"/>
                    <a:pt x="811656" y="17904"/>
                    <a:pt x="811656" y="39990"/>
                  </a:cubicBezTo>
                  <a:lnTo>
                    <a:pt x="811656" y="39990"/>
                  </a:lnTo>
                  <a:cubicBezTo>
                    <a:pt x="811656" y="62076"/>
                    <a:pt x="793752" y="79981"/>
                    <a:pt x="771666" y="79981"/>
                  </a:cubicBezTo>
                  <a:lnTo>
                    <a:pt x="39990" y="79981"/>
                  </a:lnTo>
                  <a:cubicBezTo>
                    <a:pt x="17904" y="79981"/>
                    <a:pt x="0" y="62076"/>
                    <a:pt x="0" y="39990"/>
                  </a:cubicBezTo>
                  <a:lnTo>
                    <a:pt x="0" y="39990"/>
                  </a:lnTo>
                  <a:cubicBezTo>
                    <a:pt x="0" y="17904"/>
                    <a:pt x="17904" y="0"/>
                    <a:pt x="39990" y="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1656" cy="118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03122" y="4906346"/>
            <a:ext cx="3081757" cy="303677"/>
            <a:chOff x="0" y="0"/>
            <a:chExt cx="811656" cy="799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1656" cy="79981"/>
            </a:xfrm>
            <a:custGeom>
              <a:avLst/>
              <a:gdLst/>
              <a:ahLst/>
              <a:cxnLst/>
              <a:rect l="l" t="t" r="r" b="b"/>
              <a:pathLst>
                <a:path w="811656" h="79981">
                  <a:moveTo>
                    <a:pt x="39990" y="0"/>
                  </a:moveTo>
                  <a:lnTo>
                    <a:pt x="771666" y="0"/>
                  </a:lnTo>
                  <a:cubicBezTo>
                    <a:pt x="793752" y="0"/>
                    <a:pt x="811656" y="17904"/>
                    <a:pt x="811656" y="39990"/>
                  </a:cubicBezTo>
                  <a:lnTo>
                    <a:pt x="811656" y="39990"/>
                  </a:lnTo>
                  <a:cubicBezTo>
                    <a:pt x="811656" y="62076"/>
                    <a:pt x="793752" y="79981"/>
                    <a:pt x="771666" y="79981"/>
                  </a:cubicBezTo>
                  <a:lnTo>
                    <a:pt x="39990" y="79981"/>
                  </a:lnTo>
                  <a:cubicBezTo>
                    <a:pt x="17904" y="79981"/>
                    <a:pt x="0" y="62076"/>
                    <a:pt x="0" y="39990"/>
                  </a:cubicBezTo>
                  <a:lnTo>
                    <a:pt x="0" y="39990"/>
                  </a:lnTo>
                  <a:cubicBezTo>
                    <a:pt x="0" y="17904"/>
                    <a:pt x="17904" y="0"/>
                    <a:pt x="39990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1656" cy="118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684878" y="4906346"/>
            <a:ext cx="3081757" cy="303677"/>
            <a:chOff x="0" y="0"/>
            <a:chExt cx="811656" cy="799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1656" cy="79981"/>
            </a:xfrm>
            <a:custGeom>
              <a:avLst/>
              <a:gdLst/>
              <a:ahLst/>
              <a:cxnLst/>
              <a:rect l="l" t="t" r="r" b="b"/>
              <a:pathLst>
                <a:path w="811656" h="79981">
                  <a:moveTo>
                    <a:pt x="39990" y="0"/>
                  </a:moveTo>
                  <a:lnTo>
                    <a:pt x="771666" y="0"/>
                  </a:lnTo>
                  <a:cubicBezTo>
                    <a:pt x="793752" y="0"/>
                    <a:pt x="811656" y="17904"/>
                    <a:pt x="811656" y="39990"/>
                  </a:cubicBezTo>
                  <a:lnTo>
                    <a:pt x="811656" y="39990"/>
                  </a:lnTo>
                  <a:cubicBezTo>
                    <a:pt x="811656" y="62076"/>
                    <a:pt x="793752" y="79981"/>
                    <a:pt x="771666" y="79981"/>
                  </a:cubicBezTo>
                  <a:lnTo>
                    <a:pt x="39990" y="79981"/>
                  </a:lnTo>
                  <a:cubicBezTo>
                    <a:pt x="17904" y="79981"/>
                    <a:pt x="0" y="62076"/>
                    <a:pt x="0" y="39990"/>
                  </a:cubicBezTo>
                  <a:lnTo>
                    <a:pt x="0" y="39990"/>
                  </a:lnTo>
                  <a:cubicBezTo>
                    <a:pt x="0" y="17904"/>
                    <a:pt x="17904" y="0"/>
                    <a:pt x="39990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1656" cy="118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766635" y="4906346"/>
            <a:ext cx="3081757" cy="303677"/>
            <a:chOff x="0" y="0"/>
            <a:chExt cx="811656" cy="7998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1656" cy="79981"/>
            </a:xfrm>
            <a:custGeom>
              <a:avLst/>
              <a:gdLst/>
              <a:ahLst/>
              <a:cxnLst/>
              <a:rect l="l" t="t" r="r" b="b"/>
              <a:pathLst>
                <a:path w="811656" h="79981">
                  <a:moveTo>
                    <a:pt x="39990" y="0"/>
                  </a:moveTo>
                  <a:lnTo>
                    <a:pt x="771666" y="0"/>
                  </a:lnTo>
                  <a:cubicBezTo>
                    <a:pt x="793752" y="0"/>
                    <a:pt x="811656" y="17904"/>
                    <a:pt x="811656" y="39990"/>
                  </a:cubicBezTo>
                  <a:lnTo>
                    <a:pt x="811656" y="39990"/>
                  </a:lnTo>
                  <a:cubicBezTo>
                    <a:pt x="811656" y="62076"/>
                    <a:pt x="793752" y="79981"/>
                    <a:pt x="771666" y="79981"/>
                  </a:cubicBezTo>
                  <a:lnTo>
                    <a:pt x="39990" y="79981"/>
                  </a:lnTo>
                  <a:cubicBezTo>
                    <a:pt x="17904" y="79981"/>
                    <a:pt x="0" y="62076"/>
                    <a:pt x="0" y="39990"/>
                  </a:cubicBezTo>
                  <a:lnTo>
                    <a:pt x="0" y="39990"/>
                  </a:lnTo>
                  <a:cubicBezTo>
                    <a:pt x="0" y="17904"/>
                    <a:pt x="17904" y="0"/>
                    <a:pt x="39990" y="0"/>
                  </a:cubicBezTo>
                  <a:close/>
                </a:path>
              </a:pathLst>
            </a:custGeom>
            <a:solidFill>
              <a:srgbClr val="E8DED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11656" cy="118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294925" y="4831745"/>
            <a:ext cx="452880" cy="45288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122359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76682" y="4831745"/>
            <a:ext cx="452880" cy="45288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3D6298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458438" y="4831745"/>
            <a:ext cx="452880" cy="45288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BEC8DA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540195" y="4831745"/>
            <a:ext cx="452880" cy="452880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F68D55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395512" y="4831745"/>
            <a:ext cx="452880" cy="45288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E8DED6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2053092" y="2667000"/>
            <a:ext cx="1799028" cy="2020434"/>
          </a:xfrm>
          <a:custGeom>
            <a:avLst/>
            <a:gdLst/>
            <a:ahLst/>
            <a:cxnLst/>
            <a:rect l="l" t="t" r="r" b="b"/>
            <a:pathLst>
              <a:path w="1799028" h="2020434">
                <a:moveTo>
                  <a:pt x="0" y="0"/>
                </a:moveTo>
                <a:lnTo>
                  <a:pt x="1799029" y="0"/>
                </a:lnTo>
                <a:lnTo>
                  <a:pt x="1799029" y="2020434"/>
                </a:lnTo>
                <a:lnTo>
                  <a:pt x="0" y="2020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5162729" y="2667000"/>
            <a:ext cx="1799028" cy="2020434"/>
          </a:xfrm>
          <a:custGeom>
            <a:avLst/>
            <a:gdLst/>
            <a:ahLst/>
            <a:cxnLst/>
            <a:rect l="l" t="t" r="r" b="b"/>
            <a:pathLst>
              <a:path w="1799028" h="2020434">
                <a:moveTo>
                  <a:pt x="0" y="0"/>
                </a:moveTo>
                <a:lnTo>
                  <a:pt x="1799028" y="0"/>
                </a:lnTo>
                <a:lnTo>
                  <a:pt x="1799028" y="2020434"/>
                </a:lnTo>
                <a:lnTo>
                  <a:pt x="0" y="20204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8244486" y="2667000"/>
            <a:ext cx="1799028" cy="2020434"/>
          </a:xfrm>
          <a:custGeom>
            <a:avLst/>
            <a:gdLst/>
            <a:ahLst/>
            <a:cxnLst/>
            <a:rect l="l" t="t" r="r" b="b"/>
            <a:pathLst>
              <a:path w="1799028" h="2020434">
                <a:moveTo>
                  <a:pt x="0" y="0"/>
                </a:moveTo>
                <a:lnTo>
                  <a:pt x="1799028" y="0"/>
                </a:lnTo>
                <a:lnTo>
                  <a:pt x="1799028" y="2020434"/>
                </a:lnTo>
                <a:lnTo>
                  <a:pt x="0" y="20204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1326243" y="2667000"/>
            <a:ext cx="1799028" cy="2020434"/>
          </a:xfrm>
          <a:custGeom>
            <a:avLst/>
            <a:gdLst/>
            <a:ahLst/>
            <a:cxnLst/>
            <a:rect l="l" t="t" r="r" b="b"/>
            <a:pathLst>
              <a:path w="1799028" h="2020434">
                <a:moveTo>
                  <a:pt x="0" y="0"/>
                </a:moveTo>
                <a:lnTo>
                  <a:pt x="1799028" y="0"/>
                </a:lnTo>
                <a:lnTo>
                  <a:pt x="1799028" y="2020434"/>
                </a:lnTo>
                <a:lnTo>
                  <a:pt x="0" y="2020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4407999" y="2667000"/>
            <a:ext cx="1799028" cy="2020434"/>
          </a:xfrm>
          <a:custGeom>
            <a:avLst/>
            <a:gdLst/>
            <a:ahLst/>
            <a:cxnLst/>
            <a:rect l="l" t="t" r="r" b="b"/>
            <a:pathLst>
              <a:path w="1799028" h="2020434">
                <a:moveTo>
                  <a:pt x="0" y="0"/>
                </a:moveTo>
                <a:lnTo>
                  <a:pt x="1799029" y="0"/>
                </a:lnTo>
                <a:lnTo>
                  <a:pt x="1799029" y="2020434"/>
                </a:lnTo>
                <a:lnTo>
                  <a:pt x="0" y="20204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41"/>
          <p:cNvSpPr/>
          <p:nvPr/>
        </p:nvSpPr>
        <p:spPr>
          <a:xfrm>
            <a:off x="4521365" y="5905500"/>
            <a:ext cx="0" cy="3018643"/>
          </a:xfrm>
          <a:prstGeom prst="line">
            <a:avLst/>
          </a:prstGeom>
          <a:ln w="38100" cap="flat">
            <a:solidFill>
              <a:srgbClr val="E9EC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" name="AutoShape 42"/>
          <p:cNvSpPr/>
          <p:nvPr/>
        </p:nvSpPr>
        <p:spPr>
          <a:xfrm>
            <a:off x="7603122" y="5905500"/>
            <a:ext cx="0" cy="3018643"/>
          </a:xfrm>
          <a:prstGeom prst="line">
            <a:avLst/>
          </a:prstGeom>
          <a:ln w="38100" cap="flat">
            <a:solidFill>
              <a:srgbClr val="E9EC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AutoShape 43"/>
          <p:cNvSpPr/>
          <p:nvPr/>
        </p:nvSpPr>
        <p:spPr>
          <a:xfrm>
            <a:off x="10684878" y="5905500"/>
            <a:ext cx="0" cy="3018643"/>
          </a:xfrm>
          <a:prstGeom prst="line">
            <a:avLst/>
          </a:prstGeom>
          <a:ln w="38100" cap="flat">
            <a:solidFill>
              <a:srgbClr val="E9EC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AutoShape 44"/>
          <p:cNvSpPr/>
          <p:nvPr/>
        </p:nvSpPr>
        <p:spPr>
          <a:xfrm>
            <a:off x="13766635" y="5905500"/>
            <a:ext cx="0" cy="3018643"/>
          </a:xfrm>
          <a:prstGeom prst="line">
            <a:avLst/>
          </a:prstGeom>
          <a:ln w="38100" cap="flat">
            <a:solidFill>
              <a:srgbClr val="E9EC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Freeform 45"/>
          <p:cNvSpPr/>
          <p:nvPr/>
        </p:nvSpPr>
        <p:spPr>
          <a:xfrm>
            <a:off x="2702131" y="3263380"/>
            <a:ext cx="556712" cy="556712"/>
          </a:xfrm>
          <a:custGeom>
            <a:avLst/>
            <a:gdLst/>
            <a:ahLst/>
            <a:cxnLst/>
            <a:rect l="l" t="t" r="r" b="b"/>
            <a:pathLst>
              <a:path w="556712" h="556712">
                <a:moveTo>
                  <a:pt x="0" y="0"/>
                </a:moveTo>
                <a:lnTo>
                  <a:pt x="556711" y="0"/>
                </a:lnTo>
                <a:lnTo>
                  <a:pt x="556711" y="556712"/>
                </a:lnTo>
                <a:lnTo>
                  <a:pt x="0" y="5567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8803697" y="3201433"/>
            <a:ext cx="680606" cy="680606"/>
          </a:xfrm>
          <a:custGeom>
            <a:avLst/>
            <a:gdLst/>
            <a:ahLst/>
            <a:cxnLst/>
            <a:rect l="l" t="t" r="r" b="b"/>
            <a:pathLst>
              <a:path w="680606" h="680606">
                <a:moveTo>
                  <a:pt x="0" y="0"/>
                </a:moveTo>
                <a:lnTo>
                  <a:pt x="680606" y="0"/>
                </a:lnTo>
                <a:lnTo>
                  <a:pt x="680606" y="680606"/>
                </a:lnTo>
                <a:lnTo>
                  <a:pt x="0" y="68060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1906250" y="3210958"/>
            <a:ext cx="639013" cy="639013"/>
          </a:xfrm>
          <a:custGeom>
            <a:avLst/>
            <a:gdLst/>
            <a:ahLst/>
            <a:cxnLst/>
            <a:rect l="l" t="t" r="r" b="b"/>
            <a:pathLst>
              <a:path w="639013" h="639013">
                <a:moveTo>
                  <a:pt x="0" y="0"/>
                </a:moveTo>
                <a:lnTo>
                  <a:pt x="639013" y="0"/>
                </a:lnTo>
                <a:lnTo>
                  <a:pt x="639013" y="639013"/>
                </a:lnTo>
                <a:lnTo>
                  <a:pt x="0" y="63901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4974290" y="3215592"/>
            <a:ext cx="666447" cy="666447"/>
          </a:xfrm>
          <a:custGeom>
            <a:avLst/>
            <a:gdLst/>
            <a:ahLst/>
            <a:cxnLst/>
            <a:rect l="l" t="t" r="r" b="b"/>
            <a:pathLst>
              <a:path w="666447" h="666447">
                <a:moveTo>
                  <a:pt x="0" y="0"/>
                </a:moveTo>
                <a:lnTo>
                  <a:pt x="666447" y="0"/>
                </a:lnTo>
                <a:lnTo>
                  <a:pt x="666447" y="666447"/>
                </a:lnTo>
                <a:lnTo>
                  <a:pt x="0" y="66644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5721940" y="3201433"/>
            <a:ext cx="680606" cy="680606"/>
          </a:xfrm>
          <a:custGeom>
            <a:avLst/>
            <a:gdLst/>
            <a:ahLst/>
            <a:cxnLst/>
            <a:rect l="l" t="t" r="r" b="b"/>
            <a:pathLst>
              <a:path w="680606" h="680606">
                <a:moveTo>
                  <a:pt x="0" y="0"/>
                </a:moveTo>
                <a:lnTo>
                  <a:pt x="680606" y="0"/>
                </a:lnTo>
                <a:lnTo>
                  <a:pt x="680606" y="680606"/>
                </a:lnTo>
                <a:lnTo>
                  <a:pt x="0" y="68060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=""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4053312" y="981075"/>
            <a:ext cx="10181376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Future Work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053312" y="1738590"/>
            <a:ext cx="10181376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Five phases showing feature development over time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851901" y="7255510"/>
            <a:ext cx="2201410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Propose a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feature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that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gives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interprtation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about neural network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weights</a:t>
            </a:r>
            <a:endParaRPr lang="en-US" sz="1599" dirty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4961538" y="7255510"/>
            <a:ext cx="2201410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prototype the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feature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on a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random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sample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and real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predicted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sample</a:t>
            </a:r>
            <a:endParaRPr lang="en-US" sz="1599" dirty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851901" y="6815455"/>
            <a:ext cx="220141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step 1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961538" y="6815455"/>
            <a:ext cx="220141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step 2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914263" y="7255510"/>
            <a:ext cx="2330442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Discuss the comparison and implication on a larger scale as well as computation/</a:t>
            </a:r>
            <a:r>
              <a:rPr lang="en-US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feasability</a:t>
            </a:r>
            <a:endParaRPr lang="en-US" sz="1599" dirty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8043295" y="6815455"/>
            <a:ext cx="220141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step 3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125052" y="7255510"/>
            <a:ext cx="2201410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Implement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the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feature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in production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at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large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scale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and log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it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over time</a:t>
            </a:r>
            <a:endParaRPr lang="en-US" sz="1599" dirty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1125052" y="6815455"/>
            <a:ext cx="220141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step 4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090367" y="7255510"/>
            <a:ext cx="2434293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Observe and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discuss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Patterns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that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appear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on large bodies on neural network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weights</a:t>
            </a:r>
            <a:endParaRPr lang="en-US" sz="1599" dirty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14206808" y="6815455"/>
            <a:ext cx="220141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step 5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218803" y="5990282"/>
            <a:ext cx="1467607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999" b="1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328440" y="5990282"/>
            <a:ext cx="1467607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999" b="1">
                <a:solidFill>
                  <a:srgbClr val="3E6398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438076" y="5990282"/>
            <a:ext cx="1467607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999" b="1">
                <a:solidFill>
                  <a:srgbClr val="BEC8DA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547713" y="5990282"/>
            <a:ext cx="1467607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999" b="1">
                <a:solidFill>
                  <a:srgbClr val="F68D56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4657350" y="5990282"/>
            <a:ext cx="1467607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999" b="1">
                <a:solidFill>
                  <a:srgbClr val="E7DED6"/>
                </a:solidFill>
                <a:latin typeface="TT Fors Bold"/>
                <a:ea typeface="TT Fors Bold"/>
                <a:cs typeface="TT Fors Bold"/>
                <a:sym typeface="TT Fors Bold"/>
              </a:rPr>
              <a:t>05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8115749" y="0"/>
            <a:ext cx="47625" cy="2944644"/>
            <a:chOff x="0" y="0"/>
            <a:chExt cx="12543" cy="77554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-2075" y="9962524"/>
            <a:ext cx="16824226" cy="47625"/>
            <a:chOff x="0" y="0"/>
            <a:chExt cx="4431072" cy="1254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431072" cy="12543"/>
            </a:xfrm>
            <a:custGeom>
              <a:avLst/>
              <a:gdLst/>
              <a:ahLst/>
              <a:cxnLst/>
              <a:rect l="l" t="t" r="r" b="b"/>
              <a:pathLst>
                <a:path w="4431072" h="12543">
                  <a:moveTo>
                    <a:pt x="0" y="0"/>
                  </a:moveTo>
                  <a:lnTo>
                    <a:pt x="4431072" y="0"/>
                  </a:lnTo>
                  <a:lnTo>
                    <a:pt x="443107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4431072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56795" y="7342356"/>
            <a:ext cx="47625" cy="2944644"/>
            <a:chOff x="0" y="0"/>
            <a:chExt cx="12543" cy="77554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4" name="TextBox 8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7372820" y="9188594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5" y="-3278315"/>
            <a:ext cx="19085464" cy="15530532"/>
          </a:xfrm>
          <a:custGeom>
            <a:avLst/>
            <a:gdLst/>
            <a:ahLst/>
            <a:cxnLst/>
            <a:rect l="l" t="t" r="r" b="b"/>
            <a:pathLst>
              <a:path w="19085464" h="15530532">
                <a:moveTo>
                  <a:pt x="0" y="0"/>
                </a:moveTo>
                <a:lnTo>
                  <a:pt x="19085464" y="0"/>
                </a:lnTo>
                <a:lnTo>
                  <a:pt x="19085464" y="15530531"/>
                </a:lnTo>
                <a:lnTo>
                  <a:pt x="0" y="155305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-1301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02190" y="3017738"/>
            <a:ext cx="1238171" cy="123817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29750" y="3017738"/>
            <a:ext cx="1238171" cy="123817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 u="none" strike="noStrike">
                  <a:solidFill>
                    <a:srgbClr val="12235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04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2190" y="5230400"/>
            <a:ext cx="1238171" cy="123817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619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29750" y="5230400"/>
            <a:ext cx="1238171" cy="123817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 u="none" strike="noStrike">
                  <a:solidFill>
                    <a:srgbClr val="12235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818779" y="7448086"/>
            <a:ext cx="1238171" cy="123817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12235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03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46339" y="7448086"/>
            <a:ext cx="1238171" cy="123817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E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 u="none" strike="noStrike">
                  <a:solidFill>
                    <a:srgbClr val="12235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06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4395869" y="3823252"/>
            <a:ext cx="4462381" cy="884363"/>
          </a:xfrm>
          <a:custGeom>
            <a:avLst/>
            <a:gdLst/>
            <a:ahLst/>
            <a:cxnLst/>
            <a:rect l="l" t="t" r="r" b="b"/>
            <a:pathLst>
              <a:path w="4462381" h="884363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023429" y="3823252"/>
            <a:ext cx="4462381" cy="884363"/>
          </a:xfrm>
          <a:custGeom>
            <a:avLst/>
            <a:gdLst/>
            <a:ahLst/>
            <a:cxnLst/>
            <a:rect l="l" t="t" r="r" b="b"/>
            <a:pathLst>
              <a:path w="4462381" h="884363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4395869" y="6040938"/>
            <a:ext cx="4462381" cy="884363"/>
          </a:xfrm>
          <a:custGeom>
            <a:avLst/>
            <a:gdLst/>
            <a:ahLst/>
            <a:cxnLst/>
            <a:rect l="l" t="t" r="r" b="b"/>
            <a:pathLst>
              <a:path w="4462381" h="884363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023429" y="6040938"/>
            <a:ext cx="4462381" cy="884363"/>
          </a:xfrm>
          <a:custGeom>
            <a:avLst/>
            <a:gdLst/>
            <a:ahLst/>
            <a:cxnLst/>
            <a:rect l="l" t="t" r="r" b="b"/>
            <a:pathLst>
              <a:path w="4462381" h="884363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4399015" y="2774549"/>
            <a:ext cx="4459235" cy="1714500"/>
            <a:chOff x="0" y="0"/>
            <a:chExt cx="1174449" cy="45155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74449" cy="451556"/>
            </a:xfrm>
            <a:custGeom>
              <a:avLst/>
              <a:gdLst/>
              <a:ahLst/>
              <a:cxnLst/>
              <a:rect l="l" t="t" r="r" b="b"/>
              <a:pathLst>
                <a:path w="1174449" h="451556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16833"/>
                  </a:lnTo>
                  <a:cubicBezTo>
                    <a:pt x="1174449" y="426042"/>
                    <a:pt x="1170791" y="434874"/>
                    <a:pt x="1164279" y="441385"/>
                  </a:cubicBezTo>
                  <a:cubicBezTo>
                    <a:pt x="1157767" y="447897"/>
                    <a:pt x="1148935" y="451556"/>
                    <a:pt x="1139726" y="451556"/>
                  </a:cubicBezTo>
                  <a:lnTo>
                    <a:pt x="34723" y="451556"/>
                  </a:lnTo>
                  <a:cubicBezTo>
                    <a:pt x="25514" y="451556"/>
                    <a:pt x="16682" y="447897"/>
                    <a:pt x="10170" y="441385"/>
                  </a:cubicBezTo>
                  <a:cubicBezTo>
                    <a:pt x="3658" y="434874"/>
                    <a:pt x="0" y="426042"/>
                    <a:pt x="0" y="416833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174449" cy="489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023429" y="2774549"/>
            <a:ext cx="4459235" cy="1714500"/>
            <a:chOff x="0" y="0"/>
            <a:chExt cx="1174449" cy="45155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74449" cy="451556"/>
            </a:xfrm>
            <a:custGeom>
              <a:avLst/>
              <a:gdLst/>
              <a:ahLst/>
              <a:cxnLst/>
              <a:rect l="l" t="t" r="r" b="b"/>
              <a:pathLst>
                <a:path w="1174449" h="451556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16833"/>
                  </a:lnTo>
                  <a:cubicBezTo>
                    <a:pt x="1174449" y="426042"/>
                    <a:pt x="1170791" y="434874"/>
                    <a:pt x="1164279" y="441385"/>
                  </a:cubicBezTo>
                  <a:cubicBezTo>
                    <a:pt x="1157767" y="447897"/>
                    <a:pt x="1148935" y="451556"/>
                    <a:pt x="1139726" y="451556"/>
                  </a:cubicBezTo>
                  <a:lnTo>
                    <a:pt x="34723" y="451556"/>
                  </a:lnTo>
                  <a:cubicBezTo>
                    <a:pt x="25514" y="451556"/>
                    <a:pt x="16682" y="447897"/>
                    <a:pt x="10170" y="441385"/>
                  </a:cubicBezTo>
                  <a:cubicBezTo>
                    <a:pt x="3658" y="434874"/>
                    <a:pt x="0" y="426042"/>
                    <a:pt x="0" y="416833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174449" cy="489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99015" y="4992235"/>
            <a:ext cx="4459235" cy="1714500"/>
            <a:chOff x="0" y="0"/>
            <a:chExt cx="1174449" cy="45155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74449" cy="451556"/>
            </a:xfrm>
            <a:custGeom>
              <a:avLst/>
              <a:gdLst/>
              <a:ahLst/>
              <a:cxnLst/>
              <a:rect l="l" t="t" r="r" b="b"/>
              <a:pathLst>
                <a:path w="1174449" h="451556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16833"/>
                  </a:lnTo>
                  <a:cubicBezTo>
                    <a:pt x="1174449" y="426042"/>
                    <a:pt x="1170791" y="434874"/>
                    <a:pt x="1164279" y="441385"/>
                  </a:cubicBezTo>
                  <a:cubicBezTo>
                    <a:pt x="1157767" y="447897"/>
                    <a:pt x="1148935" y="451556"/>
                    <a:pt x="1139726" y="451556"/>
                  </a:cubicBezTo>
                  <a:lnTo>
                    <a:pt x="34723" y="451556"/>
                  </a:lnTo>
                  <a:cubicBezTo>
                    <a:pt x="25514" y="451556"/>
                    <a:pt x="16682" y="447897"/>
                    <a:pt x="10170" y="441385"/>
                  </a:cubicBezTo>
                  <a:cubicBezTo>
                    <a:pt x="3658" y="434874"/>
                    <a:pt x="0" y="426042"/>
                    <a:pt x="0" y="416833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174449" cy="489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026574" y="4992235"/>
            <a:ext cx="4459235" cy="1714500"/>
            <a:chOff x="0" y="0"/>
            <a:chExt cx="1174449" cy="45155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74449" cy="451556"/>
            </a:xfrm>
            <a:custGeom>
              <a:avLst/>
              <a:gdLst/>
              <a:ahLst/>
              <a:cxnLst/>
              <a:rect l="l" t="t" r="r" b="b"/>
              <a:pathLst>
                <a:path w="1174449" h="451556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16833"/>
                  </a:lnTo>
                  <a:cubicBezTo>
                    <a:pt x="1174449" y="426042"/>
                    <a:pt x="1170791" y="434874"/>
                    <a:pt x="1164279" y="441385"/>
                  </a:cubicBezTo>
                  <a:cubicBezTo>
                    <a:pt x="1157767" y="447897"/>
                    <a:pt x="1148935" y="451556"/>
                    <a:pt x="1139726" y="451556"/>
                  </a:cubicBezTo>
                  <a:lnTo>
                    <a:pt x="34723" y="451556"/>
                  </a:lnTo>
                  <a:cubicBezTo>
                    <a:pt x="25514" y="451556"/>
                    <a:pt x="16682" y="447897"/>
                    <a:pt x="10170" y="441385"/>
                  </a:cubicBezTo>
                  <a:cubicBezTo>
                    <a:pt x="3658" y="434874"/>
                    <a:pt x="0" y="426042"/>
                    <a:pt x="0" y="416833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174449" cy="489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4774445" y="3529247"/>
            <a:ext cx="4083805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36 748 pairs of MNIST CNN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weight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pairs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created</a:t>
            </a:r>
            <a:endParaRPr lang="en-US" sz="1599" dirty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2402005" y="3529247"/>
            <a:ext cx="4083805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Train the predicted weights and observe stability</a:t>
            </a:r>
            <a:endParaRPr lang="en-US" sz="1599" dirty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4774445" y="5746933"/>
            <a:ext cx="4083805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Adhere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to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Pytorch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API and use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LazyTensor</a:t>
            </a:r>
            <a:endParaRPr lang="fr-FR" sz="1599" dirty="0" smtClean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When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needed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/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multipers</a:t>
            </a:r>
            <a:endParaRPr lang="en-US" sz="1599" dirty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402005" y="5746933"/>
            <a:ext cx="4083805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Ground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Truth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,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Predicted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weights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,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Finetuned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Weight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,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Inputed</a:t>
            </a: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fr-FR" sz="1599" dirty="0" err="1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weights</a:t>
            </a:r>
            <a:endParaRPr lang="en-US" sz="1599" dirty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4774445" y="3146342"/>
            <a:ext cx="4083805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 dirty="0" smtClean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Dataset Creation</a:t>
            </a:r>
            <a:endParaRPr lang="en-US" sz="1799" b="1" dirty="0">
              <a:solidFill>
                <a:srgbClr val="000000"/>
              </a:solidFill>
              <a:latin typeface="TT Fors Bold"/>
              <a:ea typeface="TT Fors Bold"/>
              <a:cs typeface="TT Fors Bold"/>
              <a:sym typeface="TT Fors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2402005" y="3146342"/>
            <a:ext cx="4083805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 dirty="0" err="1" smtClean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FineTune</a:t>
            </a:r>
            <a:r>
              <a:rPr lang="en-US" sz="1799" b="1" dirty="0" smtClean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 the results</a:t>
            </a:r>
            <a:endParaRPr lang="en-US" sz="1799" b="1" dirty="0">
              <a:solidFill>
                <a:srgbClr val="000000"/>
              </a:solidFill>
              <a:latin typeface="TT Fors Bold"/>
              <a:ea typeface="TT Fors Bold"/>
              <a:cs typeface="TT Fors Bold"/>
              <a:sym typeface="TT Fors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774445" y="5196779"/>
            <a:ext cx="408380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 dirty="0" smtClean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Custom Loss function implementation</a:t>
            </a:r>
            <a:endParaRPr lang="en-US" sz="1799" b="1" dirty="0">
              <a:solidFill>
                <a:srgbClr val="000000"/>
              </a:solidFill>
              <a:latin typeface="TT Fors Bold"/>
              <a:ea typeface="TT Fors Bold"/>
              <a:cs typeface="TT Fors Bold"/>
              <a:sym typeface="TT Fors 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2402005" y="5364028"/>
            <a:ext cx="4083805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 dirty="0" smtClean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Run analysis on the different sets</a:t>
            </a:r>
            <a:endParaRPr lang="en-US" sz="1799" b="1" dirty="0">
              <a:solidFill>
                <a:srgbClr val="000000"/>
              </a:solidFill>
              <a:latin typeface="TT Fors Bold"/>
              <a:ea typeface="TT Fors Bold"/>
              <a:cs typeface="TT Fors Bold"/>
              <a:sym typeface="TT Fors Bold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4395869" y="8258624"/>
            <a:ext cx="4462381" cy="884363"/>
          </a:xfrm>
          <a:custGeom>
            <a:avLst/>
            <a:gdLst/>
            <a:ahLst/>
            <a:cxnLst/>
            <a:rect l="l" t="t" r="r" b="b"/>
            <a:pathLst>
              <a:path w="4462381" h="884363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2023429" y="8258624"/>
            <a:ext cx="4462381" cy="884363"/>
          </a:xfrm>
          <a:custGeom>
            <a:avLst/>
            <a:gdLst/>
            <a:ahLst/>
            <a:cxnLst/>
            <a:rect l="l" t="t" r="r" b="b"/>
            <a:pathLst>
              <a:path w="4462381" h="884363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/>
            </a:stretch>
          </a:blipFill>
        </p:spPr>
      </p:sp>
      <p:grpSp>
        <p:nvGrpSpPr>
          <p:cNvPr id="47" name="Group 47"/>
          <p:cNvGrpSpPr/>
          <p:nvPr/>
        </p:nvGrpSpPr>
        <p:grpSpPr>
          <a:xfrm>
            <a:off x="4399015" y="7209921"/>
            <a:ext cx="4459235" cy="1714500"/>
            <a:chOff x="0" y="0"/>
            <a:chExt cx="1174449" cy="45155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74449" cy="451556"/>
            </a:xfrm>
            <a:custGeom>
              <a:avLst/>
              <a:gdLst/>
              <a:ahLst/>
              <a:cxnLst/>
              <a:rect l="l" t="t" r="r" b="b"/>
              <a:pathLst>
                <a:path w="1174449" h="451556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16833"/>
                  </a:lnTo>
                  <a:cubicBezTo>
                    <a:pt x="1174449" y="426042"/>
                    <a:pt x="1170791" y="434874"/>
                    <a:pt x="1164279" y="441385"/>
                  </a:cubicBezTo>
                  <a:cubicBezTo>
                    <a:pt x="1157767" y="447897"/>
                    <a:pt x="1148935" y="451556"/>
                    <a:pt x="1139726" y="451556"/>
                  </a:cubicBezTo>
                  <a:lnTo>
                    <a:pt x="34723" y="451556"/>
                  </a:lnTo>
                  <a:cubicBezTo>
                    <a:pt x="25514" y="451556"/>
                    <a:pt x="16682" y="447897"/>
                    <a:pt x="10170" y="441385"/>
                  </a:cubicBezTo>
                  <a:cubicBezTo>
                    <a:pt x="3658" y="434874"/>
                    <a:pt x="0" y="426042"/>
                    <a:pt x="0" y="416833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1174449" cy="489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026574" y="7209921"/>
            <a:ext cx="4459235" cy="1714500"/>
            <a:chOff x="0" y="0"/>
            <a:chExt cx="1174449" cy="45155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74449" cy="451556"/>
            </a:xfrm>
            <a:custGeom>
              <a:avLst/>
              <a:gdLst/>
              <a:ahLst/>
              <a:cxnLst/>
              <a:rect l="l" t="t" r="r" b="b"/>
              <a:pathLst>
                <a:path w="1174449" h="451556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16833"/>
                  </a:lnTo>
                  <a:cubicBezTo>
                    <a:pt x="1174449" y="426042"/>
                    <a:pt x="1170791" y="434874"/>
                    <a:pt x="1164279" y="441385"/>
                  </a:cubicBezTo>
                  <a:cubicBezTo>
                    <a:pt x="1157767" y="447897"/>
                    <a:pt x="1148935" y="451556"/>
                    <a:pt x="1139726" y="451556"/>
                  </a:cubicBezTo>
                  <a:lnTo>
                    <a:pt x="34723" y="451556"/>
                  </a:lnTo>
                  <a:cubicBezTo>
                    <a:pt x="25514" y="451556"/>
                    <a:pt x="16682" y="447897"/>
                    <a:pt x="10170" y="441385"/>
                  </a:cubicBezTo>
                  <a:cubicBezTo>
                    <a:pt x="3658" y="434874"/>
                    <a:pt x="0" y="426042"/>
                    <a:pt x="0" y="416833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1174449" cy="489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4774445" y="7964619"/>
            <a:ext cx="4083805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Effective choice of hyper-parameters to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fr-FR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Fit the computation time</a:t>
            </a:r>
            <a:endParaRPr lang="en-US" sz="1599" dirty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2402005" y="7964619"/>
            <a:ext cx="4083805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dirty="0" smtClean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Topological Spectral Statistical</a:t>
            </a:r>
            <a:endParaRPr lang="en-US" sz="1599" dirty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4774445" y="7581714"/>
            <a:ext cx="4083805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 dirty="0" smtClean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Train a </a:t>
            </a:r>
            <a:r>
              <a:rPr lang="en-US" sz="1799" b="1" dirty="0" err="1" smtClean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metalearning</a:t>
            </a:r>
            <a:r>
              <a:rPr lang="en-US" sz="1799" b="1" dirty="0" smtClean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 Transformer</a:t>
            </a:r>
            <a:endParaRPr lang="en-US" sz="1799" b="1" dirty="0">
              <a:solidFill>
                <a:srgbClr val="000000"/>
              </a:solidFill>
              <a:latin typeface="TT Fors Bold"/>
              <a:ea typeface="TT Fors Bold"/>
              <a:cs typeface="TT Fors Bold"/>
              <a:sym typeface="TT Fors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2402005" y="7581714"/>
            <a:ext cx="4083805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 dirty="0" smtClean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Compare </a:t>
            </a:r>
            <a:r>
              <a:rPr lang="en-US" sz="1799" b="1" dirty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F</a:t>
            </a:r>
            <a:r>
              <a:rPr lang="en-US" sz="1799" b="1" dirty="0" smtClean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eatures</a:t>
            </a:r>
            <a:endParaRPr lang="en-US" sz="1799" b="1" dirty="0">
              <a:solidFill>
                <a:srgbClr val="000000"/>
              </a:solidFill>
              <a:latin typeface="TT Fors Bold"/>
              <a:ea typeface="TT Fors Bold"/>
              <a:cs typeface="TT Fors Bold"/>
              <a:sym typeface="TT Fors Bold"/>
            </a:endParaRPr>
          </a:p>
        </p:txBody>
      </p:sp>
      <p:grpSp>
        <p:nvGrpSpPr>
          <p:cNvPr id="57" name="Group 57"/>
          <p:cNvGrpSpPr/>
          <p:nvPr/>
        </p:nvGrpSpPr>
        <p:grpSpPr>
          <a:xfrm>
            <a:off x="4291298" y="3527228"/>
            <a:ext cx="209142" cy="209142"/>
            <a:chOff x="0" y="0"/>
            <a:chExt cx="812800" cy="812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918858" y="3527228"/>
            <a:ext cx="209142" cy="209142"/>
            <a:chOff x="0" y="0"/>
            <a:chExt cx="812800" cy="812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4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291298" y="5744914"/>
            <a:ext cx="209142" cy="209142"/>
            <a:chOff x="0" y="0"/>
            <a:chExt cx="812800" cy="812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6198"/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1918858" y="5744914"/>
            <a:ext cx="209142" cy="209142"/>
            <a:chOff x="0" y="0"/>
            <a:chExt cx="812800" cy="8128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291298" y="7962600"/>
            <a:ext cx="209142" cy="209142"/>
            <a:chOff x="0" y="0"/>
            <a:chExt cx="812800" cy="8128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9"/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1918858" y="7962600"/>
            <a:ext cx="209142" cy="209142"/>
            <a:chOff x="0" y="0"/>
            <a:chExt cx="812800" cy="8128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EF"/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5" name="AutoShape 75"/>
          <p:cNvSpPr/>
          <p:nvPr/>
        </p:nvSpPr>
        <p:spPr>
          <a:xfrm flipV="1">
            <a:off x="3040361" y="3631799"/>
            <a:ext cx="1250937" cy="5024"/>
          </a:xfrm>
          <a:prstGeom prst="line">
            <a:avLst/>
          </a:prstGeom>
          <a:ln w="38100" cap="flat">
            <a:solidFill>
              <a:srgbClr val="BEC8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" name="AutoShape 76"/>
          <p:cNvSpPr/>
          <p:nvPr/>
        </p:nvSpPr>
        <p:spPr>
          <a:xfrm flipV="1">
            <a:off x="10667921" y="3631799"/>
            <a:ext cx="1250937" cy="5024"/>
          </a:xfrm>
          <a:prstGeom prst="line">
            <a:avLst/>
          </a:prstGeom>
          <a:ln w="38100" cap="flat">
            <a:solidFill>
              <a:srgbClr val="BEC8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7" name="AutoShape 77"/>
          <p:cNvSpPr/>
          <p:nvPr/>
        </p:nvSpPr>
        <p:spPr>
          <a:xfrm flipV="1">
            <a:off x="3040361" y="5849485"/>
            <a:ext cx="1250937" cy="0"/>
          </a:xfrm>
          <a:prstGeom prst="line">
            <a:avLst/>
          </a:prstGeom>
          <a:ln w="38100" cap="flat">
            <a:solidFill>
              <a:srgbClr val="BEC8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8" name="AutoShape 78"/>
          <p:cNvSpPr/>
          <p:nvPr/>
        </p:nvSpPr>
        <p:spPr>
          <a:xfrm flipV="1">
            <a:off x="10667921" y="5849485"/>
            <a:ext cx="1250937" cy="0"/>
          </a:xfrm>
          <a:prstGeom prst="line">
            <a:avLst/>
          </a:prstGeom>
          <a:ln w="38100" cap="flat">
            <a:solidFill>
              <a:srgbClr val="BEC8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9" name="AutoShape 79"/>
          <p:cNvSpPr/>
          <p:nvPr/>
        </p:nvSpPr>
        <p:spPr>
          <a:xfrm>
            <a:off x="3056950" y="8067171"/>
            <a:ext cx="1234348" cy="0"/>
          </a:xfrm>
          <a:prstGeom prst="line">
            <a:avLst/>
          </a:prstGeom>
          <a:ln w="38100" cap="flat">
            <a:solidFill>
              <a:srgbClr val="BEC8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AutoShape 80"/>
          <p:cNvSpPr/>
          <p:nvPr/>
        </p:nvSpPr>
        <p:spPr>
          <a:xfrm>
            <a:off x="10684509" y="8067171"/>
            <a:ext cx="1234348" cy="0"/>
          </a:xfrm>
          <a:prstGeom prst="line">
            <a:avLst/>
          </a:prstGeom>
          <a:ln w="38100" cap="flat">
            <a:solidFill>
              <a:srgbClr val="BEC8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1" name="Group 81"/>
          <p:cNvGrpSpPr/>
          <p:nvPr/>
        </p:nvGrpSpPr>
        <p:grpSpPr>
          <a:xfrm>
            <a:off x="3466416" y="2476500"/>
            <a:ext cx="361099" cy="2610091"/>
            <a:chOff x="0" y="0"/>
            <a:chExt cx="95104" cy="687431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95104" cy="687431"/>
            </a:xfrm>
            <a:custGeom>
              <a:avLst/>
              <a:gdLst/>
              <a:ahLst/>
              <a:cxnLst/>
              <a:rect l="l" t="t" r="r" b="b"/>
              <a:pathLst>
                <a:path w="95104" h="687431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639879"/>
                  </a:lnTo>
                  <a:cubicBezTo>
                    <a:pt x="95104" y="666142"/>
                    <a:pt x="73814" y="687431"/>
                    <a:pt x="47552" y="687431"/>
                  </a:cubicBezTo>
                  <a:lnTo>
                    <a:pt x="47552" y="687431"/>
                  </a:lnTo>
                  <a:cubicBezTo>
                    <a:pt x="21290" y="687431"/>
                    <a:pt x="0" y="666142"/>
                    <a:pt x="0" y="639879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95104" cy="725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1093976" y="2476500"/>
            <a:ext cx="361099" cy="2610091"/>
            <a:chOff x="0" y="0"/>
            <a:chExt cx="95104" cy="687431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95104" cy="687431"/>
            </a:xfrm>
            <a:custGeom>
              <a:avLst/>
              <a:gdLst/>
              <a:ahLst/>
              <a:cxnLst/>
              <a:rect l="l" t="t" r="r" b="b"/>
              <a:pathLst>
                <a:path w="95104" h="687431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639879"/>
                  </a:lnTo>
                  <a:cubicBezTo>
                    <a:pt x="95104" y="666142"/>
                    <a:pt x="73814" y="687431"/>
                    <a:pt x="47552" y="687431"/>
                  </a:cubicBezTo>
                  <a:lnTo>
                    <a:pt x="47552" y="687431"/>
                  </a:lnTo>
                  <a:cubicBezTo>
                    <a:pt x="21290" y="687431"/>
                    <a:pt x="0" y="666142"/>
                    <a:pt x="0" y="639879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F68D54"/>
            </a:solidFill>
          </p:spPr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95104" cy="725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3466416" y="4707615"/>
            <a:ext cx="361099" cy="2502306"/>
            <a:chOff x="0" y="0"/>
            <a:chExt cx="95104" cy="659044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95104" cy="659044"/>
            </a:xfrm>
            <a:custGeom>
              <a:avLst/>
              <a:gdLst/>
              <a:ahLst/>
              <a:cxnLst/>
              <a:rect l="l" t="t" r="r" b="b"/>
              <a:pathLst>
                <a:path w="95104" h="659044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611492"/>
                  </a:lnTo>
                  <a:cubicBezTo>
                    <a:pt x="95104" y="637754"/>
                    <a:pt x="73814" y="659044"/>
                    <a:pt x="47552" y="659044"/>
                  </a:cubicBezTo>
                  <a:lnTo>
                    <a:pt x="47552" y="659044"/>
                  </a:lnTo>
                  <a:cubicBezTo>
                    <a:pt x="21290" y="659044"/>
                    <a:pt x="0" y="637754"/>
                    <a:pt x="0" y="611492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3C6198"/>
            </a:solidFill>
          </p:spPr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95104" cy="697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1093976" y="4707615"/>
            <a:ext cx="361099" cy="2502306"/>
            <a:chOff x="0" y="0"/>
            <a:chExt cx="95104" cy="659044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95104" cy="659044"/>
            </a:xfrm>
            <a:custGeom>
              <a:avLst/>
              <a:gdLst/>
              <a:ahLst/>
              <a:cxnLst/>
              <a:rect l="l" t="t" r="r" b="b"/>
              <a:pathLst>
                <a:path w="95104" h="659044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611492"/>
                  </a:lnTo>
                  <a:cubicBezTo>
                    <a:pt x="95104" y="637754"/>
                    <a:pt x="73814" y="659044"/>
                    <a:pt x="47552" y="659044"/>
                  </a:cubicBezTo>
                  <a:lnTo>
                    <a:pt x="47552" y="659044"/>
                  </a:lnTo>
                  <a:cubicBezTo>
                    <a:pt x="21290" y="659044"/>
                    <a:pt x="0" y="637754"/>
                    <a:pt x="0" y="611492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95104" cy="697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3466416" y="6992705"/>
            <a:ext cx="361099" cy="2148932"/>
            <a:chOff x="0" y="0"/>
            <a:chExt cx="95104" cy="56597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95104" cy="565974"/>
            </a:xfrm>
            <a:custGeom>
              <a:avLst/>
              <a:gdLst/>
              <a:ahLst/>
              <a:cxnLst/>
              <a:rect l="l" t="t" r="r" b="b"/>
              <a:pathLst>
                <a:path w="95104" h="565974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518422"/>
                  </a:lnTo>
                  <a:cubicBezTo>
                    <a:pt x="95104" y="544684"/>
                    <a:pt x="73814" y="565974"/>
                    <a:pt x="47552" y="565974"/>
                  </a:cubicBezTo>
                  <a:lnTo>
                    <a:pt x="47552" y="565974"/>
                  </a:lnTo>
                  <a:cubicBezTo>
                    <a:pt x="21290" y="565974"/>
                    <a:pt x="0" y="544684"/>
                    <a:pt x="0" y="518422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BEC8D9"/>
            </a:solidFill>
          </p:spPr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95104" cy="604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1093976" y="6992705"/>
            <a:ext cx="361099" cy="2148932"/>
            <a:chOff x="0" y="0"/>
            <a:chExt cx="95104" cy="56597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95104" cy="565974"/>
            </a:xfrm>
            <a:custGeom>
              <a:avLst/>
              <a:gdLst/>
              <a:ahLst/>
              <a:cxnLst/>
              <a:rect l="l" t="t" r="r" b="b"/>
              <a:pathLst>
                <a:path w="95104" h="565974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518422"/>
                  </a:lnTo>
                  <a:cubicBezTo>
                    <a:pt x="95104" y="544684"/>
                    <a:pt x="73814" y="565974"/>
                    <a:pt x="47552" y="565974"/>
                  </a:cubicBezTo>
                  <a:lnTo>
                    <a:pt x="47552" y="565974"/>
                  </a:lnTo>
                  <a:cubicBezTo>
                    <a:pt x="21290" y="565974"/>
                    <a:pt x="0" y="544684"/>
                    <a:pt x="0" y="518422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FBF6EF"/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95104" cy="604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1" name="TextBox 101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-2075" y="9962524"/>
            <a:ext cx="16824226" cy="47625"/>
            <a:chOff x="0" y="0"/>
            <a:chExt cx="4431072" cy="12543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4431072" cy="12543"/>
            </a:xfrm>
            <a:custGeom>
              <a:avLst/>
              <a:gdLst/>
              <a:ahLst/>
              <a:cxnLst/>
              <a:rect l="l" t="t" r="r" b="b"/>
              <a:pathLst>
                <a:path w="4431072" h="12543">
                  <a:moveTo>
                    <a:pt x="0" y="0"/>
                  </a:moveTo>
                  <a:lnTo>
                    <a:pt x="4431072" y="0"/>
                  </a:lnTo>
                  <a:lnTo>
                    <a:pt x="443107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04" name="TextBox 104"/>
            <p:cNvSpPr txBox="1"/>
            <p:nvPr/>
          </p:nvSpPr>
          <p:spPr>
            <a:xfrm>
              <a:off x="0" y="-19050"/>
              <a:ext cx="4431072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56795" y="7342356"/>
            <a:ext cx="47625" cy="2944644"/>
            <a:chOff x="0" y="0"/>
            <a:chExt cx="12543" cy="775544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7" name="TextBox 107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10" name="TextBox 110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8115749" y="0"/>
            <a:ext cx="47625" cy="2944644"/>
            <a:chOff x="0" y="0"/>
            <a:chExt cx="12543" cy="775544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13" name="TextBox 113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692816" y="561736"/>
            <a:ext cx="47625" cy="910586"/>
            <a:chOff x="0" y="0"/>
            <a:chExt cx="12543" cy="239825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12543" cy="239825"/>
            </a:xfrm>
            <a:custGeom>
              <a:avLst/>
              <a:gdLst/>
              <a:ahLst/>
              <a:cxnLst/>
              <a:rect l="l" t="t" r="r" b="b"/>
              <a:pathLst>
                <a:path w="12543" h="239825">
                  <a:moveTo>
                    <a:pt x="0" y="0"/>
                  </a:moveTo>
                  <a:lnTo>
                    <a:pt x="12543" y="0"/>
                  </a:lnTo>
                  <a:lnTo>
                    <a:pt x="12543" y="239825"/>
                  </a:lnTo>
                  <a:lnTo>
                    <a:pt x="0" y="239825"/>
                  </a:lnTo>
                  <a:close/>
                </a:path>
              </a:pathLst>
            </a:custGeom>
            <a:solidFill>
              <a:srgbClr val="FF6633"/>
            </a:solidFill>
            <a:ln w="57150" cap="sq">
              <a:solidFill>
                <a:srgbClr val="FF6633"/>
              </a:solidFill>
              <a:prstDash val="solid"/>
              <a:miter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0" y="-19050"/>
              <a:ext cx="12543" cy="2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sp>
        <p:nvSpPr>
          <p:cNvPr id="117" name="TextBox 117"/>
          <p:cNvSpPr txBox="1"/>
          <p:nvPr/>
        </p:nvSpPr>
        <p:spPr>
          <a:xfrm>
            <a:off x="17372820" y="9188594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5" y="-3278315"/>
            <a:ext cx="19085464" cy="15530532"/>
          </a:xfrm>
          <a:custGeom>
            <a:avLst/>
            <a:gdLst/>
            <a:ahLst/>
            <a:cxnLst/>
            <a:rect l="l" t="t" r="r" b="b"/>
            <a:pathLst>
              <a:path w="19085464" h="15530532">
                <a:moveTo>
                  <a:pt x="0" y="0"/>
                </a:moveTo>
                <a:lnTo>
                  <a:pt x="19085464" y="0"/>
                </a:lnTo>
                <a:lnTo>
                  <a:pt x="19085464" y="15530531"/>
                </a:lnTo>
                <a:lnTo>
                  <a:pt x="0" y="15530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l="-1301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458541" y="323850"/>
            <a:ext cx="11874875" cy="47625"/>
            <a:chOff x="0" y="0"/>
            <a:chExt cx="3127539" cy="12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27539" cy="12543"/>
            </a:xfrm>
            <a:custGeom>
              <a:avLst/>
              <a:gdLst/>
              <a:ahLst/>
              <a:cxnLst/>
              <a:rect l="l" t="t" r="r" b="b"/>
              <a:pathLst>
                <a:path w="3127539" h="12543">
                  <a:moveTo>
                    <a:pt x="0" y="0"/>
                  </a:moveTo>
                  <a:lnTo>
                    <a:pt x="3127539" y="0"/>
                  </a:lnTo>
                  <a:lnTo>
                    <a:pt x="312753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127539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115749" y="0"/>
            <a:ext cx="47625" cy="2944644"/>
            <a:chOff x="0" y="0"/>
            <a:chExt cx="12543" cy="7755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075" y="9962524"/>
            <a:ext cx="16824226" cy="47625"/>
            <a:chOff x="0" y="0"/>
            <a:chExt cx="4431072" cy="125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31072" cy="12543"/>
            </a:xfrm>
            <a:custGeom>
              <a:avLst/>
              <a:gdLst/>
              <a:ahLst/>
              <a:cxnLst/>
              <a:rect l="l" t="t" r="r" b="b"/>
              <a:pathLst>
                <a:path w="4431072" h="12543">
                  <a:moveTo>
                    <a:pt x="0" y="0"/>
                  </a:moveTo>
                  <a:lnTo>
                    <a:pt x="4431072" y="0"/>
                  </a:lnTo>
                  <a:lnTo>
                    <a:pt x="443107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663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4431072" cy="31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6795" y="7342356"/>
            <a:ext cx="47625" cy="2944644"/>
            <a:chOff x="0" y="0"/>
            <a:chExt cx="12543" cy="7755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543" cy="775544"/>
            </a:xfrm>
            <a:custGeom>
              <a:avLst/>
              <a:gdLst/>
              <a:ahLst/>
              <a:cxnLst/>
              <a:rect l="l" t="t" r="r" b="b"/>
              <a:pathLst>
                <a:path w="12543" h="775544">
                  <a:moveTo>
                    <a:pt x="0" y="0"/>
                  </a:moveTo>
                  <a:lnTo>
                    <a:pt x="12543" y="0"/>
                  </a:lnTo>
                  <a:lnTo>
                    <a:pt x="12543" y="775544"/>
                  </a:lnTo>
                  <a:lnTo>
                    <a:pt x="0" y="77554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2543" cy="794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2816" y="561736"/>
            <a:ext cx="47625" cy="910586"/>
            <a:chOff x="0" y="0"/>
            <a:chExt cx="12543" cy="2398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43" cy="239825"/>
            </a:xfrm>
            <a:custGeom>
              <a:avLst/>
              <a:gdLst/>
              <a:ahLst/>
              <a:cxnLst/>
              <a:rect l="l" t="t" r="r" b="b"/>
              <a:pathLst>
                <a:path w="12543" h="239825">
                  <a:moveTo>
                    <a:pt x="0" y="0"/>
                  </a:moveTo>
                  <a:lnTo>
                    <a:pt x="12543" y="0"/>
                  </a:lnTo>
                  <a:lnTo>
                    <a:pt x="12543" y="239825"/>
                  </a:lnTo>
                  <a:lnTo>
                    <a:pt x="0" y="239825"/>
                  </a:lnTo>
                  <a:close/>
                </a:path>
              </a:pathLst>
            </a:custGeom>
            <a:solidFill>
              <a:srgbClr val="FF6633"/>
            </a:solidFill>
            <a:ln w="57150" cap="sq">
              <a:solidFill>
                <a:srgbClr val="FF6633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2543" cy="258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3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152724" y="9047125"/>
            <a:ext cx="963024" cy="963024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63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3193" y="1748287"/>
            <a:ext cx="15731708" cy="7825879"/>
            <a:chOff x="0" y="0"/>
            <a:chExt cx="20975611" cy="10434505"/>
          </a:xfrm>
        </p:grpSpPr>
        <p:sp>
          <p:nvSpPr>
            <p:cNvPr id="22" name="Freeform 22"/>
            <p:cNvSpPr/>
            <p:nvPr/>
          </p:nvSpPr>
          <p:spPr>
            <a:xfrm>
              <a:off x="7670800" y="1853625"/>
              <a:ext cx="5949842" cy="1179150"/>
            </a:xfrm>
            <a:custGeom>
              <a:avLst/>
              <a:gdLst/>
              <a:ahLst/>
              <a:cxnLst/>
              <a:rect l="l" t="t" r="r" b="b"/>
              <a:pathLst>
                <a:path w="5949842" h="1179150">
                  <a:moveTo>
                    <a:pt x="0" y="0"/>
                  </a:moveTo>
                  <a:lnTo>
                    <a:pt x="5949842" y="0"/>
                  </a:lnTo>
                  <a:lnTo>
                    <a:pt x="5949842" y="1179151"/>
                  </a:lnTo>
                  <a:lnTo>
                    <a:pt x="0" y="1179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3000"/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7670800" y="5554490"/>
              <a:ext cx="5949842" cy="1179150"/>
            </a:xfrm>
            <a:custGeom>
              <a:avLst/>
              <a:gdLst/>
              <a:ahLst/>
              <a:cxnLst/>
              <a:rect l="l" t="t" r="r" b="b"/>
              <a:pathLst>
                <a:path w="5949842" h="1179150">
                  <a:moveTo>
                    <a:pt x="0" y="0"/>
                  </a:moveTo>
                  <a:lnTo>
                    <a:pt x="5949842" y="0"/>
                  </a:lnTo>
                  <a:lnTo>
                    <a:pt x="5949842" y="1179150"/>
                  </a:lnTo>
                  <a:lnTo>
                    <a:pt x="0" y="1179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3000"/>
              </a:blip>
              <a:stretch>
                <a:fillRect/>
              </a:stretch>
            </a:blipFill>
          </p:spPr>
        </p:sp>
        <p:grpSp>
          <p:nvGrpSpPr>
            <p:cNvPr id="24" name="Group 24"/>
            <p:cNvGrpSpPr/>
            <p:nvPr/>
          </p:nvGrpSpPr>
          <p:grpSpPr>
            <a:xfrm>
              <a:off x="7674994" y="146495"/>
              <a:ext cx="5945647" cy="2594860"/>
              <a:chOff x="0" y="0"/>
              <a:chExt cx="1174449" cy="51256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174449" cy="512565"/>
              </a:xfrm>
              <a:custGeom>
                <a:avLst/>
                <a:gdLst/>
                <a:ahLst/>
                <a:cxnLst/>
                <a:rect l="l" t="t" r="r" b="b"/>
                <a:pathLst>
                  <a:path w="1174449" h="512565">
                    <a:moveTo>
                      <a:pt x="34723" y="0"/>
                    </a:moveTo>
                    <a:lnTo>
                      <a:pt x="1139726" y="0"/>
                    </a:lnTo>
                    <a:cubicBezTo>
                      <a:pt x="1158903" y="0"/>
                      <a:pt x="1174449" y="15546"/>
                      <a:pt x="1174449" y="34723"/>
                    </a:cubicBezTo>
                    <a:lnTo>
                      <a:pt x="1174449" y="477842"/>
                    </a:lnTo>
                    <a:cubicBezTo>
                      <a:pt x="1174449" y="487051"/>
                      <a:pt x="1170791" y="495883"/>
                      <a:pt x="1164279" y="502395"/>
                    </a:cubicBezTo>
                    <a:cubicBezTo>
                      <a:pt x="1157767" y="508907"/>
                      <a:pt x="1148935" y="512565"/>
                      <a:pt x="1139726" y="512565"/>
                    </a:cubicBezTo>
                    <a:lnTo>
                      <a:pt x="34723" y="512565"/>
                    </a:lnTo>
                    <a:cubicBezTo>
                      <a:pt x="25514" y="512565"/>
                      <a:pt x="16682" y="508907"/>
                      <a:pt x="10170" y="502395"/>
                    </a:cubicBezTo>
                    <a:cubicBezTo>
                      <a:pt x="3658" y="495883"/>
                      <a:pt x="0" y="487051"/>
                      <a:pt x="0" y="477842"/>
                    </a:cubicBezTo>
                    <a:lnTo>
                      <a:pt x="0" y="34723"/>
                    </a:lnTo>
                    <a:cubicBezTo>
                      <a:pt x="0" y="25514"/>
                      <a:pt x="3658" y="16682"/>
                      <a:pt x="10170" y="10170"/>
                    </a:cubicBezTo>
                    <a:cubicBezTo>
                      <a:pt x="16682" y="3658"/>
                      <a:pt x="25514" y="0"/>
                      <a:pt x="3472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174449" cy="5506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74994" y="3847360"/>
              <a:ext cx="5945647" cy="2594860"/>
              <a:chOff x="0" y="0"/>
              <a:chExt cx="1174449" cy="51256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74449" cy="512565"/>
              </a:xfrm>
              <a:custGeom>
                <a:avLst/>
                <a:gdLst/>
                <a:ahLst/>
                <a:cxnLst/>
                <a:rect l="l" t="t" r="r" b="b"/>
                <a:pathLst>
                  <a:path w="1174449" h="512565">
                    <a:moveTo>
                      <a:pt x="34723" y="0"/>
                    </a:moveTo>
                    <a:lnTo>
                      <a:pt x="1139726" y="0"/>
                    </a:lnTo>
                    <a:cubicBezTo>
                      <a:pt x="1158903" y="0"/>
                      <a:pt x="1174449" y="15546"/>
                      <a:pt x="1174449" y="34723"/>
                    </a:cubicBezTo>
                    <a:lnTo>
                      <a:pt x="1174449" y="477842"/>
                    </a:lnTo>
                    <a:cubicBezTo>
                      <a:pt x="1174449" y="487051"/>
                      <a:pt x="1170791" y="495883"/>
                      <a:pt x="1164279" y="502395"/>
                    </a:cubicBezTo>
                    <a:cubicBezTo>
                      <a:pt x="1157767" y="508907"/>
                      <a:pt x="1148935" y="512565"/>
                      <a:pt x="1139726" y="512565"/>
                    </a:cubicBezTo>
                    <a:lnTo>
                      <a:pt x="34723" y="512565"/>
                    </a:lnTo>
                    <a:cubicBezTo>
                      <a:pt x="25514" y="512565"/>
                      <a:pt x="16682" y="508907"/>
                      <a:pt x="10170" y="502395"/>
                    </a:cubicBezTo>
                    <a:cubicBezTo>
                      <a:pt x="3658" y="495883"/>
                      <a:pt x="0" y="487051"/>
                      <a:pt x="0" y="477842"/>
                    </a:cubicBezTo>
                    <a:lnTo>
                      <a:pt x="0" y="34723"/>
                    </a:lnTo>
                    <a:cubicBezTo>
                      <a:pt x="0" y="25514"/>
                      <a:pt x="3658" y="16682"/>
                      <a:pt x="10170" y="10170"/>
                    </a:cubicBezTo>
                    <a:cubicBezTo>
                      <a:pt x="16682" y="3658"/>
                      <a:pt x="25514" y="0"/>
                      <a:pt x="3472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1174449" cy="5506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7670800" y="9255355"/>
              <a:ext cx="5949842" cy="1179150"/>
            </a:xfrm>
            <a:custGeom>
              <a:avLst/>
              <a:gdLst/>
              <a:ahLst/>
              <a:cxnLst/>
              <a:rect l="l" t="t" r="r" b="b"/>
              <a:pathLst>
                <a:path w="5949842" h="1179150">
                  <a:moveTo>
                    <a:pt x="0" y="0"/>
                  </a:moveTo>
                  <a:lnTo>
                    <a:pt x="5949842" y="0"/>
                  </a:lnTo>
                  <a:lnTo>
                    <a:pt x="5949842" y="1179150"/>
                  </a:lnTo>
                  <a:lnTo>
                    <a:pt x="0" y="1179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3000"/>
              </a:blip>
              <a:stretch>
                <a:fillRect/>
              </a:stretch>
            </a:blipFill>
          </p:spPr>
        </p:sp>
        <p:grpSp>
          <p:nvGrpSpPr>
            <p:cNvPr id="31" name="Group 31"/>
            <p:cNvGrpSpPr/>
            <p:nvPr/>
          </p:nvGrpSpPr>
          <p:grpSpPr>
            <a:xfrm>
              <a:off x="7674994" y="7548225"/>
              <a:ext cx="5945647" cy="2594860"/>
              <a:chOff x="0" y="0"/>
              <a:chExt cx="1174449" cy="51256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74449" cy="512565"/>
              </a:xfrm>
              <a:custGeom>
                <a:avLst/>
                <a:gdLst/>
                <a:ahLst/>
                <a:cxnLst/>
                <a:rect l="l" t="t" r="r" b="b"/>
                <a:pathLst>
                  <a:path w="1174449" h="512565">
                    <a:moveTo>
                      <a:pt x="34723" y="0"/>
                    </a:moveTo>
                    <a:lnTo>
                      <a:pt x="1139726" y="0"/>
                    </a:lnTo>
                    <a:cubicBezTo>
                      <a:pt x="1158903" y="0"/>
                      <a:pt x="1174449" y="15546"/>
                      <a:pt x="1174449" y="34723"/>
                    </a:cubicBezTo>
                    <a:lnTo>
                      <a:pt x="1174449" y="477842"/>
                    </a:lnTo>
                    <a:cubicBezTo>
                      <a:pt x="1174449" y="487051"/>
                      <a:pt x="1170791" y="495883"/>
                      <a:pt x="1164279" y="502395"/>
                    </a:cubicBezTo>
                    <a:cubicBezTo>
                      <a:pt x="1157767" y="508907"/>
                      <a:pt x="1148935" y="512565"/>
                      <a:pt x="1139726" y="512565"/>
                    </a:cubicBezTo>
                    <a:lnTo>
                      <a:pt x="34723" y="512565"/>
                    </a:lnTo>
                    <a:cubicBezTo>
                      <a:pt x="25514" y="512565"/>
                      <a:pt x="16682" y="508907"/>
                      <a:pt x="10170" y="502395"/>
                    </a:cubicBezTo>
                    <a:cubicBezTo>
                      <a:pt x="3658" y="495883"/>
                      <a:pt x="0" y="487051"/>
                      <a:pt x="0" y="477842"/>
                    </a:cubicBezTo>
                    <a:lnTo>
                      <a:pt x="0" y="34723"/>
                    </a:lnTo>
                    <a:cubicBezTo>
                      <a:pt x="0" y="25514"/>
                      <a:pt x="3658" y="16682"/>
                      <a:pt x="10170" y="10170"/>
                    </a:cubicBezTo>
                    <a:cubicBezTo>
                      <a:pt x="16682" y="3658"/>
                      <a:pt x="25514" y="0"/>
                      <a:pt x="3472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174449" cy="5506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8590418" y="16433"/>
              <a:ext cx="4114800" cy="260125"/>
              <a:chOff x="0" y="0"/>
              <a:chExt cx="812800" cy="5138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513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51383">
                    <a:moveTo>
                      <a:pt x="25691" y="0"/>
                    </a:moveTo>
                    <a:lnTo>
                      <a:pt x="787109" y="0"/>
                    </a:lnTo>
                    <a:cubicBezTo>
                      <a:pt x="801298" y="0"/>
                      <a:pt x="812800" y="11502"/>
                      <a:pt x="812800" y="25691"/>
                    </a:cubicBezTo>
                    <a:lnTo>
                      <a:pt x="812800" y="25691"/>
                    </a:lnTo>
                    <a:cubicBezTo>
                      <a:pt x="812800" y="32505"/>
                      <a:pt x="810093" y="39040"/>
                      <a:pt x="805275" y="43858"/>
                    </a:cubicBezTo>
                    <a:cubicBezTo>
                      <a:pt x="800457" y="48676"/>
                      <a:pt x="793922" y="51383"/>
                      <a:pt x="787109" y="51383"/>
                    </a:cubicBezTo>
                    <a:lnTo>
                      <a:pt x="25691" y="51383"/>
                    </a:lnTo>
                    <a:cubicBezTo>
                      <a:pt x="11502" y="51383"/>
                      <a:pt x="0" y="39880"/>
                      <a:pt x="0" y="25691"/>
                    </a:cubicBezTo>
                    <a:lnTo>
                      <a:pt x="0" y="25691"/>
                    </a:lnTo>
                    <a:cubicBezTo>
                      <a:pt x="0" y="11502"/>
                      <a:pt x="11502" y="0"/>
                      <a:pt x="25691" y="0"/>
                    </a:cubicBezTo>
                    <a:close/>
                  </a:path>
                </a:pathLst>
              </a:custGeom>
              <a:solidFill>
                <a:srgbClr val="122359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812800" cy="894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590418" y="3717298"/>
              <a:ext cx="4114800" cy="260125"/>
              <a:chOff x="0" y="0"/>
              <a:chExt cx="812800" cy="5138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513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51383">
                    <a:moveTo>
                      <a:pt x="25691" y="0"/>
                    </a:moveTo>
                    <a:lnTo>
                      <a:pt x="787109" y="0"/>
                    </a:lnTo>
                    <a:cubicBezTo>
                      <a:pt x="801298" y="0"/>
                      <a:pt x="812800" y="11502"/>
                      <a:pt x="812800" y="25691"/>
                    </a:cubicBezTo>
                    <a:lnTo>
                      <a:pt x="812800" y="25691"/>
                    </a:lnTo>
                    <a:cubicBezTo>
                      <a:pt x="812800" y="32505"/>
                      <a:pt x="810093" y="39040"/>
                      <a:pt x="805275" y="43858"/>
                    </a:cubicBezTo>
                    <a:cubicBezTo>
                      <a:pt x="800457" y="48676"/>
                      <a:pt x="793922" y="51383"/>
                      <a:pt x="787109" y="51383"/>
                    </a:cubicBezTo>
                    <a:lnTo>
                      <a:pt x="25691" y="51383"/>
                    </a:lnTo>
                    <a:cubicBezTo>
                      <a:pt x="11502" y="51383"/>
                      <a:pt x="0" y="39880"/>
                      <a:pt x="0" y="25691"/>
                    </a:cubicBezTo>
                    <a:lnTo>
                      <a:pt x="0" y="25691"/>
                    </a:lnTo>
                    <a:cubicBezTo>
                      <a:pt x="0" y="11502"/>
                      <a:pt x="11502" y="0"/>
                      <a:pt x="25691" y="0"/>
                    </a:cubicBezTo>
                    <a:close/>
                  </a:path>
                </a:pathLst>
              </a:custGeom>
              <a:solidFill>
                <a:srgbClr val="3E6398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812800" cy="894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8590418" y="7418163"/>
              <a:ext cx="4114800" cy="260125"/>
              <a:chOff x="0" y="0"/>
              <a:chExt cx="812800" cy="5138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513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51383">
                    <a:moveTo>
                      <a:pt x="25691" y="0"/>
                    </a:moveTo>
                    <a:lnTo>
                      <a:pt x="787109" y="0"/>
                    </a:lnTo>
                    <a:cubicBezTo>
                      <a:pt x="801298" y="0"/>
                      <a:pt x="812800" y="11502"/>
                      <a:pt x="812800" y="25691"/>
                    </a:cubicBezTo>
                    <a:lnTo>
                      <a:pt x="812800" y="25691"/>
                    </a:lnTo>
                    <a:cubicBezTo>
                      <a:pt x="812800" y="32505"/>
                      <a:pt x="810093" y="39040"/>
                      <a:pt x="805275" y="43858"/>
                    </a:cubicBezTo>
                    <a:cubicBezTo>
                      <a:pt x="800457" y="48676"/>
                      <a:pt x="793922" y="51383"/>
                      <a:pt x="787109" y="51383"/>
                    </a:cubicBezTo>
                    <a:lnTo>
                      <a:pt x="25691" y="51383"/>
                    </a:lnTo>
                    <a:cubicBezTo>
                      <a:pt x="11502" y="51383"/>
                      <a:pt x="0" y="39880"/>
                      <a:pt x="0" y="25691"/>
                    </a:cubicBezTo>
                    <a:lnTo>
                      <a:pt x="0" y="25691"/>
                    </a:lnTo>
                    <a:cubicBezTo>
                      <a:pt x="0" y="11502"/>
                      <a:pt x="11502" y="0"/>
                      <a:pt x="25691" y="0"/>
                    </a:cubicBezTo>
                    <a:close/>
                  </a:path>
                </a:pathLst>
              </a:custGeom>
              <a:solidFill>
                <a:srgbClr val="F68D56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812800" cy="894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196789" y="292205"/>
              <a:ext cx="1979518" cy="2303439"/>
              <a:chOff x="0" y="0"/>
              <a:chExt cx="6985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12088"/>
                <a:ext cx="698500" cy="788624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788624">
                    <a:moveTo>
                      <a:pt x="387985" y="10449"/>
                    </a:moveTo>
                    <a:lnTo>
                      <a:pt x="659765" y="168575"/>
                    </a:lnTo>
                    <a:cubicBezTo>
                      <a:pt x="683747" y="182528"/>
                      <a:pt x="698500" y="208181"/>
                      <a:pt x="698500" y="235926"/>
                    </a:cubicBezTo>
                    <a:lnTo>
                      <a:pt x="698500" y="552698"/>
                    </a:lnTo>
                    <a:cubicBezTo>
                      <a:pt x="698500" y="580443"/>
                      <a:pt x="683747" y="606096"/>
                      <a:pt x="659765" y="620049"/>
                    </a:cubicBezTo>
                    <a:lnTo>
                      <a:pt x="387985" y="778175"/>
                    </a:lnTo>
                    <a:cubicBezTo>
                      <a:pt x="364040" y="792107"/>
                      <a:pt x="334460" y="792107"/>
                      <a:pt x="310515" y="778175"/>
                    </a:cubicBezTo>
                    <a:lnTo>
                      <a:pt x="38735" y="620049"/>
                    </a:lnTo>
                    <a:cubicBezTo>
                      <a:pt x="14753" y="606096"/>
                      <a:pt x="0" y="580443"/>
                      <a:pt x="0" y="552698"/>
                    </a:cubicBezTo>
                    <a:lnTo>
                      <a:pt x="0" y="235926"/>
                    </a:lnTo>
                    <a:cubicBezTo>
                      <a:pt x="0" y="208181"/>
                      <a:pt x="14753" y="182528"/>
                      <a:pt x="38735" y="168575"/>
                    </a:cubicBezTo>
                    <a:lnTo>
                      <a:pt x="310515" y="10449"/>
                    </a:lnTo>
                    <a:cubicBezTo>
                      <a:pt x="334460" y="-3483"/>
                      <a:pt x="364040" y="-3483"/>
                      <a:pt x="387985" y="10449"/>
                    </a:cubicBezTo>
                    <a:close/>
                  </a:path>
                </a:pathLst>
              </a:custGeom>
              <a:solidFill>
                <a:srgbClr val="122359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196789" y="3993070"/>
              <a:ext cx="1979518" cy="2303439"/>
              <a:chOff x="0" y="0"/>
              <a:chExt cx="6985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12088"/>
                <a:ext cx="698500" cy="788624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788624">
                    <a:moveTo>
                      <a:pt x="387985" y="10449"/>
                    </a:moveTo>
                    <a:lnTo>
                      <a:pt x="659765" y="168575"/>
                    </a:lnTo>
                    <a:cubicBezTo>
                      <a:pt x="683747" y="182528"/>
                      <a:pt x="698500" y="208181"/>
                      <a:pt x="698500" y="235926"/>
                    </a:cubicBezTo>
                    <a:lnTo>
                      <a:pt x="698500" y="552698"/>
                    </a:lnTo>
                    <a:cubicBezTo>
                      <a:pt x="698500" y="580443"/>
                      <a:pt x="683747" y="606096"/>
                      <a:pt x="659765" y="620049"/>
                    </a:cubicBezTo>
                    <a:lnTo>
                      <a:pt x="387985" y="778175"/>
                    </a:lnTo>
                    <a:cubicBezTo>
                      <a:pt x="364040" y="792107"/>
                      <a:pt x="334460" y="792107"/>
                      <a:pt x="310515" y="778175"/>
                    </a:cubicBezTo>
                    <a:lnTo>
                      <a:pt x="38735" y="620049"/>
                    </a:lnTo>
                    <a:cubicBezTo>
                      <a:pt x="14753" y="606096"/>
                      <a:pt x="0" y="580443"/>
                      <a:pt x="0" y="552698"/>
                    </a:cubicBezTo>
                    <a:lnTo>
                      <a:pt x="0" y="235926"/>
                    </a:lnTo>
                    <a:cubicBezTo>
                      <a:pt x="0" y="208181"/>
                      <a:pt x="14753" y="182528"/>
                      <a:pt x="38735" y="168575"/>
                    </a:cubicBezTo>
                    <a:lnTo>
                      <a:pt x="310515" y="10449"/>
                    </a:lnTo>
                    <a:cubicBezTo>
                      <a:pt x="334460" y="-3483"/>
                      <a:pt x="364040" y="-3483"/>
                      <a:pt x="387985" y="10449"/>
                    </a:cubicBezTo>
                    <a:close/>
                  </a:path>
                </a:pathLst>
              </a:custGeom>
              <a:solidFill>
                <a:srgbClr val="3E6398"/>
              </a:soli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196789" y="7693935"/>
              <a:ext cx="1979518" cy="2303439"/>
              <a:chOff x="0" y="0"/>
              <a:chExt cx="6985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12088"/>
                <a:ext cx="698500" cy="788624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788624">
                    <a:moveTo>
                      <a:pt x="387985" y="10449"/>
                    </a:moveTo>
                    <a:lnTo>
                      <a:pt x="659765" y="168575"/>
                    </a:lnTo>
                    <a:cubicBezTo>
                      <a:pt x="683747" y="182528"/>
                      <a:pt x="698500" y="208181"/>
                      <a:pt x="698500" y="235926"/>
                    </a:cubicBezTo>
                    <a:lnTo>
                      <a:pt x="698500" y="552698"/>
                    </a:lnTo>
                    <a:cubicBezTo>
                      <a:pt x="698500" y="580443"/>
                      <a:pt x="683747" y="606096"/>
                      <a:pt x="659765" y="620049"/>
                    </a:cubicBezTo>
                    <a:lnTo>
                      <a:pt x="387985" y="778175"/>
                    </a:lnTo>
                    <a:cubicBezTo>
                      <a:pt x="364040" y="792107"/>
                      <a:pt x="334460" y="792107"/>
                      <a:pt x="310515" y="778175"/>
                    </a:cubicBezTo>
                    <a:lnTo>
                      <a:pt x="38735" y="620049"/>
                    </a:lnTo>
                    <a:cubicBezTo>
                      <a:pt x="14753" y="606096"/>
                      <a:pt x="0" y="580443"/>
                      <a:pt x="0" y="552698"/>
                    </a:cubicBezTo>
                    <a:lnTo>
                      <a:pt x="0" y="235926"/>
                    </a:lnTo>
                    <a:cubicBezTo>
                      <a:pt x="0" y="208181"/>
                      <a:pt x="14753" y="182528"/>
                      <a:pt x="38735" y="168575"/>
                    </a:cubicBezTo>
                    <a:lnTo>
                      <a:pt x="310515" y="10449"/>
                    </a:lnTo>
                    <a:cubicBezTo>
                      <a:pt x="334460" y="-3483"/>
                      <a:pt x="364040" y="-3483"/>
                      <a:pt x="387985" y="10449"/>
                    </a:cubicBezTo>
                    <a:close/>
                  </a:path>
                </a:pathLst>
              </a:custGeom>
              <a:solidFill>
                <a:srgbClr val="F68D56"/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2" name="AutoShape 52"/>
            <p:cNvSpPr/>
            <p:nvPr/>
          </p:nvSpPr>
          <p:spPr>
            <a:xfrm flipV="1">
              <a:off x="4048898" y="1443925"/>
              <a:ext cx="2147891" cy="3726265"/>
            </a:xfrm>
            <a:prstGeom prst="line">
              <a:avLst/>
            </a:prstGeom>
            <a:ln w="50800" cap="flat">
              <a:solidFill>
                <a:srgbClr val="A9B4C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4048898" y="5144790"/>
              <a:ext cx="2147891" cy="0"/>
            </a:xfrm>
            <a:prstGeom prst="line">
              <a:avLst/>
            </a:prstGeom>
            <a:ln w="50800" cap="flat">
              <a:solidFill>
                <a:srgbClr val="A9B4C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4048898" y="5170190"/>
              <a:ext cx="2147891" cy="3675465"/>
            </a:xfrm>
            <a:prstGeom prst="line">
              <a:avLst/>
            </a:prstGeom>
            <a:ln w="50800" cap="flat">
              <a:solidFill>
                <a:srgbClr val="A9B4CD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15701989" y="0"/>
              <a:ext cx="5273622" cy="1256586"/>
              <a:chOff x="0" y="0"/>
              <a:chExt cx="1041703" cy="24821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041703" cy="248215"/>
              </a:xfrm>
              <a:custGeom>
                <a:avLst/>
                <a:gdLst/>
                <a:ahLst/>
                <a:cxnLst/>
                <a:rect l="l" t="t" r="r" b="b"/>
                <a:pathLst>
                  <a:path w="1041703" h="248215">
                    <a:moveTo>
                      <a:pt x="35233" y="0"/>
                    </a:moveTo>
                    <a:lnTo>
                      <a:pt x="1006470" y="0"/>
                    </a:lnTo>
                    <a:cubicBezTo>
                      <a:pt x="1015814" y="0"/>
                      <a:pt x="1024776" y="3712"/>
                      <a:pt x="1031384" y="10320"/>
                    </a:cubicBezTo>
                    <a:cubicBezTo>
                      <a:pt x="1037991" y="16927"/>
                      <a:pt x="1041703" y="25889"/>
                      <a:pt x="1041703" y="35233"/>
                    </a:cubicBezTo>
                    <a:lnTo>
                      <a:pt x="1041703" y="212982"/>
                    </a:lnTo>
                    <a:cubicBezTo>
                      <a:pt x="1041703" y="222326"/>
                      <a:pt x="1037991" y="231288"/>
                      <a:pt x="1031384" y="237895"/>
                    </a:cubicBezTo>
                    <a:cubicBezTo>
                      <a:pt x="1024776" y="244503"/>
                      <a:pt x="1015814" y="248215"/>
                      <a:pt x="1006470" y="248215"/>
                    </a:cubicBezTo>
                    <a:lnTo>
                      <a:pt x="35233" y="248215"/>
                    </a:lnTo>
                    <a:cubicBezTo>
                      <a:pt x="25889" y="248215"/>
                      <a:pt x="16927" y="244503"/>
                      <a:pt x="10320" y="237895"/>
                    </a:cubicBezTo>
                    <a:cubicBezTo>
                      <a:pt x="3712" y="231288"/>
                      <a:pt x="0" y="222326"/>
                      <a:pt x="0" y="212982"/>
                    </a:cubicBezTo>
                    <a:lnTo>
                      <a:pt x="0" y="35233"/>
                    </a:lnTo>
                    <a:cubicBezTo>
                      <a:pt x="0" y="25889"/>
                      <a:pt x="3712" y="16927"/>
                      <a:pt x="10320" y="10320"/>
                    </a:cubicBezTo>
                    <a:cubicBezTo>
                      <a:pt x="16927" y="3712"/>
                      <a:pt x="25889" y="0"/>
                      <a:pt x="35233" y="0"/>
                    </a:cubicBezTo>
                    <a:close/>
                  </a:path>
                </a:pathLst>
              </a:custGeom>
              <a:solidFill>
                <a:srgbClr val="122359"/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0" y="-38100"/>
                <a:ext cx="1041703" cy="2863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r>
                  <a:rPr lang="en-US" sz="1600" dirty="0" smtClean="0">
                    <a:solidFill>
                      <a:srgbClr val="FFFFFF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Federated and Continual Learning</a:t>
                </a:r>
                <a:endParaRPr lang="en-US" sz="1600" dirty="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endParaRPr>
              </a:p>
              <a:p>
                <a:pPr marL="0" lvl="0" indent="0" algn="ctr">
                  <a:lnSpc>
                    <a:spcPts val="2240"/>
                  </a:lnSpc>
                  <a:spcBef>
                    <a:spcPct val="0"/>
                  </a:spcBef>
                </a:pPr>
                <a:endParaRPr lang="en-US" sz="1600" dirty="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15701989" y="1631264"/>
              <a:ext cx="5273622" cy="1256586"/>
              <a:chOff x="0" y="0"/>
              <a:chExt cx="1041703" cy="24821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041703" cy="248215"/>
              </a:xfrm>
              <a:custGeom>
                <a:avLst/>
                <a:gdLst/>
                <a:ahLst/>
                <a:cxnLst/>
                <a:rect l="l" t="t" r="r" b="b"/>
                <a:pathLst>
                  <a:path w="1041703" h="248215">
                    <a:moveTo>
                      <a:pt x="35233" y="0"/>
                    </a:moveTo>
                    <a:lnTo>
                      <a:pt x="1006470" y="0"/>
                    </a:lnTo>
                    <a:cubicBezTo>
                      <a:pt x="1015814" y="0"/>
                      <a:pt x="1024776" y="3712"/>
                      <a:pt x="1031384" y="10320"/>
                    </a:cubicBezTo>
                    <a:cubicBezTo>
                      <a:pt x="1037991" y="16927"/>
                      <a:pt x="1041703" y="25889"/>
                      <a:pt x="1041703" y="35233"/>
                    </a:cubicBezTo>
                    <a:lnTo>
                      <a:pt x="1041703" y="212982"/>
                    </a:lnTo>
                    <a:cubicBezTo>
                      <a:pt x="1041703" y="222326"/>
                      <a:pt x="1037991" y="231288"/>
                      <a:pt x="1031384" y="237895"/>
                    </a:cubicBezTo>
                    <a:cubicBezTo>
                      <a:pt x="1024776" y="244503"/>
                      <a:pt x="1015814" y="248215"/>
                      <a:pt x="1006470" y="248215"/>
                    </a:cubicBezTo>
                    <a:lnTo>
                      <a:pt x="35233" y="248215"/>
                    </a:lnTo>
                    <a:cubicBezTo>
                      <a:pt x="25889" y="248215"/>
                      <a:pt x="16927" y="244503"/>
                      <a:pt x="10320" y="237895"/>
                    </a:cubicBezTo>
                    <a:cubicBezTo>
                      <a:pt x="3712" y="231288"/>
                      <a:pt x="0" y="222326"/>
                      <a:pt x="0" y="212982"/>
                    </a:cubicBezTo>
                    <a:lnTo>
                      <a:pt x="0" y="35233"/>
                    </a:lnTo>
                    <a:cubicBezTo>
                      <a:pt x="0" y="25889"/>
                      <a:pt x="3712" y="16927"/>
                      <a:pt x="10320" y="10320"/>
                    </a:cubicBezTo>
                    <a:cubicBezTo>
                      <a:pt x="16927" y="3712"/>
                      <a:pt x="25889" y="0"/>
                      <a:pt x="35233" y="0"/>
                    </a:cubicBezTo>
                    <a:close/>
                  </a:path>
                </a:pathLst>
              </a:custGeom>
              <a:solidFill>
                <a:srgbClr val="122359"/>
              </a:solidFill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1041703" cy="2863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40"/>
                  </a:lnSpc>
                  <a:spcBef>
                    <a:spcPct val="0"/>
                  </a:spcBef>
                </a:pPr>
                <a:r>
                  <a:rPr lang="en-US" sz="1600" dirty="0" smtClean="0">
                    <a:solidFill>
                      <a:srgbClr val="FFFFFF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Model interpretability and task disentanglement</a:t>
                </a:r>
                <a:endParaRPr lang="en-US" sz="1600" dirty="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15701989" y="3709081"/>
              <a:ext cx="5273622" cy="1256586"/>
              <a:chOff x="0" y="0"/>
              <a:chExt cx="1041703" cy="24821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1041703" cy="248215"/>
              </a:xfrm>
              <a:custGeom>
                <a:avLst/>
                <a:gdLst/>
                <a:ahLst/>
                <a:cxnLst/>
                <a:rect l="l" t="t" r="r" b="b"/>
                <a:pathLst>
                  <a:path w="1041703" h="248215">
                    <a:moveTo>
                      <a:pt x="35233" y="0"/>
                    </a:moveTo>
                    <a:lnTo>
                      <a:pt x="1006470" y="0"/>
                    </a:lnTo>
                    <a:cubicBezTo>
                      <a:pt x="1015814" y="0"/>
                      <a:pt x="1024776" y="3712"/>
                      <a:pt x="1031384" y="10320"/>
                    </a:cubicBezTo>
                    <a:cubicBezTo>
                      <a:pt x="1037991" y="16927"/>
                      <a:pt x="1041703" y="25889"/>
                      <a:pt x="1041703" y="35233"/>
                    </a:cubicBezTo>
                    <a:lnTo>
                      <a:pt x="1041703" y="212982"/>
                    </a:lnTo>
                    <a:cubicBezTo>
                      <a:pt x="1041703" y="222326"/>
                      <a:pt x="1037991" y="231288"/>
                      <a:pt x="1031384" y="237895"/>
                    </a:cubicBezTo>
                    <a:cubicBezTo>
                      <a:pt x="1024776" y="244503"/>
                      <a:pt x="1015814" y="248215"/>
                      <a:pt x="1006470" y="248215"/>
                    </a:cubicBezTo>
                    <a:lnTo>
                      <a:pt x="35233" y="248215"/>
                    </a:lnTo>
                    <a:cubicBezTo>
                      <a:pt x="25889" y="248215"/>
                      <a:pt x="16927" y="244503"/>
                      <a:pt x="10320" y="237895"/>
                    </a:cubicBezTo>
                    <a:cubicBezTo>
                      <a:pt x="3712" y="231288"/>
                      <a:pt x="0" y="222326"/>
                      <a:pt x="0" y="212982"/>
                    </a:cubicBezTo>
                    <a:lnTo>
                      <a:pt x="0" y="35233"/>
                    </a:lnTo>
                    <a:cubicBezTo>
                      <a:pt x="0" y="25889"/>
                      <a:pt x="3712" y="16927"/>
                      <a:pt x="10320" y="10320"/>
                    </a:cubicBezTo>
                    <a:cubicBezTo>
                      <a:pt x="16927" y="3712"/>
                      <a:pt x="25889" y="0"/>
                      <a:pt x="35233" y="0"/>
                    </a:cubicBezTo>
                    <a:close/>
                  </a:path>
                </a:pathLst>
              </a:custGeom>
              <a:solidFill>
                <a:srgbClr val="3E6398"/>
              </a:solidFill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0" y="-38100"/>
                <a:ext cx="1041703" cy="2863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40"/>
                  </a:lnSpc>
                  <a:spcBef>
                    <a:spcPct val="0"/>
                  </a:spcBef>
                </a:pPr>
                <a:r>
                  <a:rPr lang="fr-FR" sz="1600" dirty="0" err="1" smtClean="0">
                    <a:solidFill>
                      <a:srgbClr val="FFFFFF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Apply</a:t>
                </a:r>
                <a:r>
                  <a:rPr lang="fr-FR" sz="1600" dirty="0" smtClean="0">
                    <a:solidFill>
                      <a:srgbClr val="FFFFFF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to </a:t>
                </a:r>
                <a:r>
                  <a:rPr lang="fr-FR" sz="1600" dirty="0" err="1" smtClean="0">
                    <a:solidFill>
                      <a:srgbClr val="FFFFFF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Biomedical</a:t>
                </a:r>
                <a:r>
                  <a:rPr lang="fr-FR" sz="1600" dirty="0" smtClean="0">
                    <a:solidFill>
                      <a:srgbClr val="FFFFFF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segmentation of </a:t>
                </a:r>
                <a:r>
                  <a:rPr lang="fr-FR" sz="1600" dirty="0" err="1" smtClean="0">
                    <a:solidFill>
                      <a:srgbClr val="FFFFFF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CNNs</a:t>
                </a:r>
                <a:r>
                  <a:rPr lang="fr-FR" sz="1600" dirty="0" smtClean="0">
                    <a:solidFill>
                      <a:srgbClr val="FFFFFF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for </a:t>
                </a:r>
                <a:r>
                  <a:rPr lang="fr-FR" sz="1600" dirty="0" err="1" smtClean="0">
                    <a:solidFill>
                      <a:srgbClr val="FFFFFF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Brain</a:t>
                </a:r>
                <a:r>
                  <a:rPr lang="fr-FR" sz="1600" dirty="0" smtClean="0">
                    <a:solidFill>
                      <a:srgbClr val="FFFFFF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</a:t>
                </a:r>
                <a:r>
                  <a:rPr lang="fr-FR" sz="1600" dirty="0" err="1" smtClean="0">
                    <a:solidFill>
                      <a:srgbClr val="FFFFFF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tumors</a:t>
                </a:r>
                <a:endParaRPr lang="en-US" sz="1600" dirty="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5701989" y="5340345"/>
              <a:ext cx="5273622" cy="1256586"/>
              <a:chOff x="0" y="0"/>
              <a:chExt cx="1041703" cy="24821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1041703" cy="248215"/>
              </a:xfrm>
              <a:custGeom>
                <a:avLst/>
                <a:gdLst/>
                <a:ahLst/>
                <a:cxnLst/>
                <a:rect l="l" t="t" r="r" b="b"/>
                <a:pathLst>
                  <a:path w="1041703" h="248215">
                    <a:moveTo>
                      <a:pt x="35233" y="0"/>
                    </a:moveTo>
                    <a:lnTo>
                      <a:pt x="1006470" y="0"/>
                    </a:lnTo>
                    <a:cubicBezTo>
                      <a:pt x="1015814" y="0"/>
                      <a:pt x="1024776" y="3712"/>
                      <a:pt x="1031384" y="10320"/>
                    </a:cubicBezTo>
                    <a:cubicBezTo>
                      <a:pt x="1037991" y="16927"/>
                      <a:pt x="1041703" y="25889"/>
                      <a:pt x="1041703" y="35233"/>
                    </a:cubicBezTo>
                    <a:lnTo>
                      <a:pt x="1041703" y="212982"/>
                    </a:lnTo>
                    <a:cubicBezTo>
                      <a:pt x="1041703" y="222326"/>
                      <a:pt x="1037991" y="231288"/>
                      <a:pt x="1031384" y="237895"/>
                    </a:cubicBezTo>
                    <a:cubicBezTo>
                      <a:pt x="1024776" y="244503"/>
                      <a:pt x="1015814" y="248215"/>
                      <a:pt x="1006470" y="248215"/>
                    </a:cubicBezTo>
                    <a:lnTo>
                      <a:pt x="35233" y="248215"/>
                    </a:lnTo>
                    <a:cubicBezTo>
                      <a:pt x="25889" y="248215"/>
                      <a:pt x="16927" y="244503"/>
                      <a:pt x="10320" y="237895"/>
                    </a:cubicBezTo>
                    <a:cubicBezTo>
                      <a:pt x="3712" y="231288"/>
                      <a:pt x="0" y="222326"/>
                      <a:pt x="0" y="212982"/>
                    </a:cubicBezTo>
                    <a:lnTo>
                      <a:pt x="0" y="35233"/>
                    </a:lnTo>
                    <a:cubicBezTo>
                      <a:pt x="0" y="25889"/>
                      <a:pt x="3712" y="16927"/>
                      <a:pt x="10320" y="10320"/>
                    </a:cubicBezTo>
                    <a:cubicBezTo>
                      <a:pt x="16927" y="3712"/>
                      <a:pt x="25889" y="0"/>
                      <a:pt x="35233" y="0"/>
                    </a:cubicBezTo>
                    <a:close/>
                  </a:path>
                </a:pathLst>
              </a:custGeom>
              <a:solidFill>
                <a:srgbClr val="3E6398"/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0" y="-38100"/>
                <a:ext cx="1041703" cy="2863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40"/>
                  </a:lnSpc>
                  <a:spcBef>
                    <a:spcPct val="0"/>
                  </a:spcBef>
                </a:pPr>
                <a:r>
                  <a:rPr lang="en-US" sz="1600" dirty="0" smtClean="0">
                    <a:solidFill>
                      <a:srgbClr val="FFFFFF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Integrate into the </a:t>
                </a:r>
                <a:r>
                  <a:rPr lang="en-US" sz="1600" dirty="0" err="1" smtClean="0">
                    <a:solidFill>
                      <a:srgbClr val="FFFFFF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Mlops</a:t>
                </a:r>
                <a:r>
                  <a:rPr lang="en-US" sz="1600" dirty="0" smtClean="0">
                    <a:solidFill>
                      <a:srgbClr val="FFFFFF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cycle of small Startups</a:t>
                </a:r>
                <a:endParaRPr lang="en-US" sz="1600" dirty="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endParaRP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15701989" y="7418163"/>
              <a:ext cx="5273622" cy="1256586"/>
              <a:chOff x="0" y="0"/>
              <a:chExt cx="1041703" cy="24821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1041703" cy="248215"/>
              </a:xfrm>
              <a:custGeom>
                <a:avLst/>
                <a:gdLst/>
                <a:ahLst/>
                <a:cxnLst/>
                <a:rect l="l" t="t" r="r" b="b"/>
                <a:pathLst>
                  <a:path w="1041703" h="248215">
                    <a:moveTo>
                      <a:pt x="35233" y="0"/>
                    </a:moveTo>
                    <a:lnTo>
                      <a:pt x="1006470" y="0"/>
                    </a:lnTo>
                    <a:cubicBezTo>
                      <a:pt x="1015814" y="0"/>
                      <a:pt x="1024776" y="3712"/>
                      <a:pt x="1031384" y="10320"/>
                    </a:cubicBezTo>
                    <a:cubicBezTo>
                      <a:pt x="1037991" y="16927"/>
                      <a:pt x="1041703" y="25889"/>
                      <a:pt x="1041703" y="35233"/>
                    </a:cubicBezTo>
                    <a:lnTo>
                      <a:pt x="1041703" y="212982"/>
                    </a:lnTo>
                    <a:cubicBezTo>
                      <a:pt x="1041703" y="222326"/>
                      <a:pt x="1037991" y="231288"/>
                      <a:pt x="1031384" y="237895"/>
                    </a:cubicBezTo>
                    <a:cubicBezTo>
                      <a:pt x="1024776" y="244503"/>
                      <a:pt x="1015814" y="248215"/>
                      <a:pt x="1006470" y="248215"/>
                    </a:cubicBezTo>
                    <a:lnTo>
                      <a:pt x="35233" y="248215"/>
                    </a:lnTo>
                    <a:cubicBezTo>
                      <a:pt x="25889" y="248215"/>
                      <a:pt x="16927" y="244503"/>
                      <a:pt x="10320" y="237895"/>
                    </a:cubicBezTo>
                    <a:cubicBezTo>
                      <a:pt x="3712" y="231288"/>
                      <a:pt x="0" y="222326"/>
                      <a:pt x="0" y="212982"/>
                    </a:cubicBezTo>
                    <a:lnTo>
                      <a:pt x="0" y="35233"/>
                    </a:lnTo>
                    <a:cubicBezTo>
                      <a:pt x="0" y="25889"/>
                      <a:pt x="3712" y="16927"/>
                      <a:pt x="10320" y="10320"/>
                    </a:cubicBezTo>
                    <a:cubicBezTo>
                      <a:pt x="16927" y="3712"/>
                      <a:pt x="25889" y="0"/>
                      <a:pt x="35233" y="0"/>
                    </a:cubicBezTo>
                    <a:close/>
                  </a:path>
                </a:pathLst>
              </a:custGeom>
              <a:solidFill>
                <a:srgbClr val="F68D56"/>
              </a:solidFill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0" y="-38100"/>
                <a:ext cx="1041703" cy="2863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40"/>
                  </a:lnSpc>
                  <a:spcBef>
                    <a:spcPct val="0"/>
                  </a:spcBef>
                </a:pP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Mathematical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Foundation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s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resurfacing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through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emprical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results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guiding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future 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research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directions</a:t>
                </a:r>
                <a:endParaRPr lang="en-US" sz="16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endParaRP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5701989" y="9049426"/>
              <a:ext cx="5273622" cy="1256586"/>
              <a:chOff x="0" y="0"/>
              <a:chExt cx="1041703" cy="24821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1041703" cy="248215"/>
              </a:xfrm>
              <a:custGeom>
                <a:avLst/>
                <a:gdLst/>
                <a:ahLst/>
                <a:cxnLst/>
                <a:rect l="l" t="t" r="r" b="b"/>
                <a:pathLst>
                  <a:path w="1041703" h="248215">
                    <a:moveTo>
                      <a:pt x="35233" y="0"/>
                    </a:moveTo>
                    <a:lnTo>
                      <a:pt x="1006470" y="0"/>
                    </a:lnTo>
                    <a:cubicBezTo>
                      <a:pt x="1015814" y="0"/>
                      <a:pt x="1024776" y="3712"/>
                      <a:pt x="1031384" y="10320"/>
                    </a:cubicBezTo>
                    <a:cubicBezTo>
                      <a:pt x="1037991" y="16927"/>
                      <a:pt x="1041703" y="25889"/>
                      <a:pt x="1041703" y="35233"/>
                    </a:cubicBezTo>
                    <a:lnTo>
                      <a:pt x="1041703" y="212982"/>
                    </a:lnTo>
                    <a:cubicBezTo>
                      <a:pt x="1041703" y="222326"/>
                      <a:pt x="1037991" y="231288"/>
                      <a:pt x="1031384" y="237895"/>
                    </a:cubicBezTo>
                    <a:cubicBezTo>
                      <a:pt x="1024776" y="244503"/>
                      <a:pt x="1015814" y="248215"/>
                      <a:pt x="1006470" y="248215"/>
                    </a:cubicBezTo>
                    <a:lnTo>
                      <a:pt x="35233" y="248215"/>
                    </a:lnTo>
                    <a:cubicBezTo>
                      <a:pt x="25889" y="248215"/>
                      <a:pt x="16927" y="244503"/>
                      <a:pt x="10320" y="237895"/>
                    </a:cubicBezTo>
                    <a:cubicBezTo>
                      <a:pt x="3712" y="231288"/>
                      <a:pt x="0" y="222326"/>
                      <a:pt x="0" y="212982"/>
                    </a:cubicBezTo>
                    <a:lnTo>
                      <a:pt x="0" y="35233"/>
                    </a:lnTo>
                    <a:cubicBezTo>
                      <a:pt x="0" y="25889"/>
                      <a:pt x="3712" y="16927"/>
                      <a:pt x="10320" y="10320"/>
                    </a:cubicBezTo>
                    <a:cubicBezTo>
                      <a:pt x="16927" y="3712"/>
                      <a:pt x="25889" y="0"/>
                      <a:pt x="35233" y="0"/>
                    </a:cubicBezTo>
                    <a:close/>
                  </a:path>
                </a:pathLst>
              </a:custGeom>
              <a:solidFill>
                <a:srgbClr val="F68D56"/>
              </a:solidFill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0" y="-38100"/>
                <a:ext cx="1041703" cy="2863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40"/>
                  </a:lnSpc>
                  <a:spcBef>
                    <a:spcPct val="0"/>
                  </a:spcBef>
                </a:pP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Bring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Community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attention to the 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quality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of the 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models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and the 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proper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tools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to 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improve</a:t>
                </a:r>
                <a:r>
                  <a:rPr lang="fr-FR" sz="1600" dirty="0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 </a:t>
                </a:r>
                <a:r>
                  <a:rPr lang="fr-FR" sz="1600" dirty="0" err="1" smtClean="0">
                    <a:solidFill>
                      <a:srgbClr val="000000"/>
                    </a:solidFill>
                    <a:latin typeface="TT Fors"/>
                    <a:ea typeface="TT Fors"/>
                    <a:cs typeface="TT Fors"/>
                    <a:sym typeface="TT Fors"/>
                  </a:rPr>
                  <a:t>it</a:t>
                </a:r>
                <a:endParaRPr lang="en-US" sz="1600" dirty="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endParaRPr>
              </a:p>
            </p:txBody>
          </p:sp>
        </p:grpSp>
        <p:sp>
          <p:nvSpPr>
            <p:cNvPr id="73" name="AutoShape 73"/>
            <p:cNvSpPr/>
            <p:nvPr/>
          </p:nvSpPr>
          <p:spPr>
            <a:xfrm flipV="1">
              <a:off x="13620642" y="628293"/>
              <a:ext cx="2081347" cy="815632"/>
            </a:xfrm>
            <a:prstGeom prst="line">
              <a:avLst/>
            </a:prstGeom>
            <a:ln w="50800" cap="flat">
              <a:solidFill>
                <a:srgbClr val="A9B4C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13620642" y="1443925"/>
              <a:ext cx="2081347" cy="815632"/>
            </a:xfrm>
            <a:prstGeom prst="line">
              <a:avLst/>
            </a:prstGeom>
            <a:ln w="50800" cap="flat">
              <a:solidFill>
                <a:srgbClr val="A9B4C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5" name="AutoShape 75"/>
            <p:cNvSpPr/>
            <p:nvPr/>
          </p:nvSpPr>
          <p:spPr>
            <a:xfrm flipV="1">
              <a:off x="13620642" y="4337375"/>
              <a:ext cx="2081347" cy="807415"/>
            </a:xfrm>
            <a:prstGeom prst="line">
              <a:avLst/>
            </a:prstGeom>
            <a:ln w="50800" cap="flat">
              <a:solidFill>
                <a:srgbClr val="A9B4C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6" name="AutoShape 76"/>
            <p:cNvSpPr/>
            <p:nvPr/>
          </p:nvSpPr>
          <p:spPr>
            <a:xfrm flipV="1">
              <a:off x="13620642" y="8046456"/>
              <a:ext cx="2081347" cy="799199"/>
            </a:xfrm>
            <a:prstGeom prst="line">
              <a:avLst/>
            </a:prstGeom>
            <a:ln w="50800" cap="flat">
              <a:solidFill>
                <a:srgbClr val="A9B4C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13620642" y="5144790"/>
              <a:ext cx="2081347" cy="823848"/>
            </a:xfrm>
            <a:prstGeom prst="line">
              <a:avLst/>
            </a:prstGeom>
            <a:ln w="50800" cap="flat">
              <a:solidFill>
                <a:srgbClr val="A9B4C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13620642" y="8845655"/>
              <a:ext cx="2081347" cy="832065"/>
            </a:xfrm>
            <a:prstGeom prst="line">
              <a:avLst/>
            </a:prstGeom>
            <a:ln w="50800" cap="flat">
              <a:solidFill>
                <a:srgbClr val="A9B4C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9" name="Freeform 79"/>
            <p:cNvSpPr/>
            <p:nvPr/>
          </p:nvSpPr>
          <p:spPr>
            <a:xfrm>
              <a:off x="6722810" y="980187"/>
              <a:ext cx="927475" cy="927475"/>
            </a:xfrm>
            <a:custGeom>
              <a:avLst/>
              <a:gdLst/>
              <a:ahLst/>
              <a:cxnLst/>
              <a:rect l="l" t="t" r="r" b="b"/>
              <a:pathLst>
                <a:path w="927475" h="927475">
                  <a:moveTo>
                    <a:pt x="0" y="0"/>
                  </a:moveTo>
                  <a:lnTo>
                    <a:pt x="927476" y="0"/>
                  </a:lnTo>
                  <a:lnTo>
                    <a:pt x="927476" y="927476"/>
                  </a:lnTo>
                  <a:lnTo>
                    <a:pt x="0" y="927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0" name="Freeform 80"/>
            <p:cNvSpPr/>
            <p:nvPr/>
          </p:nvSpPr>
          <p:spPr>
            <a:xfrm>
              <a:off x="6747519" y="8406626"/>
              <a:ext cx="878058" cy="878058"/>
            </a:xfrm>
            <a:custGeom>
              <a:avLst/>
              <a:gdLst/>
              <a:ahLst/>
              <a:cxnLst/>
              <a:rect l="l" t="t" r="r" b="b"/>
              <a:pathLst>
                <a:path w="878058" h="878058">
                  <a:moveTo>
                    <a:pt x="0" y="0"/>
                  </a:moveTo>
                  <a:lnTo>
                    <a:pt x="878058" y="0"/>
                  </a:lnTo>
                  <a:lnTo>
                    <a:pt x="878058" y="878058"/>
                  </a:lnTo>
                  <a:lnTo>
                    <a:pt x="0" y="878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=""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1" name="Freeform 81"/>
            <p:cNvSpPr/>
            <p:nvPr/>
          </p:nvSpPr>
          <p:spPr>
            <a:xfrm>
              <a:off x="6722810" y="4681052"/>
              <a:ext cx="927475" cy="927475"/>
            </a:xfrm>
            <a:custGeom>
              <a:avLst/>
              <a:gdLst/>
              <a:ahLst/>
              <a:cxnLst/>
              <a:rect l="l" t="t" r="r" b="b"/>
              <a:pathLst>
                <a:path w="927475" h="927475">
                  <a:moveTo>
                    <a:pt x="0" y="0"/>
                  </a:moveTo>
                  <a:lnTo>
                    <a:pt x="927476" y="0"/>
                  </a:lnTo>
                  <a:lnTo>
                    <a:pt x="927476" y="927476"/>
                  </a:lnTo>
                  <a:lnTo>
                    <a:pt x="0" y="927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4723160"/>
              <a:ext cx="4023497" cy="2564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40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112F8D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</a:t>
              </a:r>
              <a:r>
                <a:rPr lang="en-US" sz="3600" b="1" dirty="0" smtClean="0">
                  <a:solidFill>
                    <a:srgbClr val="112F8D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Efficient Weight Fusion</a:t>
              </a:r>
              <a:endParaRPr lang="en-US" sz="3600" b="1" dirty="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5400" y="5776060"/>
              <a:ext cx="4023498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717417" y="1298632"/>
              <a:ext cx="4488763" cy="364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spcBef>
                  <a:spcPct val="0"/>
                </a:spcBef>
              </a:pPr>
              <a:endParaRPr lang="en-US" sz="1599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654092" y="1184717"/>
              <a:ext cx="4488763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fr-FR" sz="1799" b="1" dirty="0" smtClean="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Impact on ML applications</a:t>
              </a:r>
              <a:endParaRPr lang="en-US" sz="1799" b="1" dirty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693176" y="4835161"/>
              <a:ext cx="4488763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fr-FR" sz="1799" b="1" dirty="0" smtClean="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Real World Pipelines</a:t>
              </a:r>
              <a:endParaRPr lang="en-US" sz="1799" b="1" dirty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717418" y="8569828"/>
              <a:ext cx="4488763" cy="35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................................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717417" y="8059286"/>
              <a:ext cx="4488763" cy="1282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 b="1" dirty="0" smtClean="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Answer Research Gaps about the utility of Hyper-representations</a:t>
              </a:r>
              <a:endParaRPr lang="en-US" sz="1799" b="1" dirty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endParaRPr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17372820" y="9188594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5" y="-3278315"/>
            <a:ext cx="19085464" cy="15530532"/>
          </a:xfrm>
          <a:custGeom>
            <a:avLst/>
            <a:gdLst/>
            <a:ahLst/>
            <a:cxnLst/>
            <a:rect l="l" t="t" r="r" b="b"/>
            <a:pathLst>
              <a:path w="19085464" h="15530532">
                <a:moveTo>
                  <a:pt x="0" y="0"/>
                </a:moveTo>
                <a:lnTo>
                  <a:pt x="19085464" y="0"/>
                </a:lnTo>
                <a:lnTo>
                  <a:pt x="19085464" y="15530531"/>
                </a:lnTo>
                <a:lnTo>
                  <a:pt x="0" y="15530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13018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795458" y="2771287"/>
            <a:ext cx="1503053" cy="1503053"/>
          </a:xfrm>
          <a:custGeom>
            <a:avLst/>
            <a:gdLst/>
            <a:ahLst/>
            <a:cxnLst/>
            <a:rect l="l" t="t" r="r" b="b"/>
            <a:pathLst>
              <a:path w="1503053" h="1503053">
                <a:moveTo>
                  <a:pt x="0" y="0"/>
                </a:moveTo>
                <a:lnTo>
                  <a:pt x="1503054" y="0"/>
                </a:lnTo>
                <a:lnTo>
                  <a:pt x="1503054" y="1503053"/>
                </a:lnTo>
                <a:lnTo>
                  <a:pt x="0" y="15030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88585" y="352961"/>
            <a:ext cx="2978866" cy="1314949"/>
          </a:xfrm>
          <a:custGeom>
            <a:avLst/>
            <a:gdLst/>
            <a:ahLst/>
            <a:cxnLst/>
            <a:rect l="l" t="t" r="r" b="b"/>
            <a:pathLst>
              <a:path w="2978866" h="1314949">
                <a:moveTo>
                  <a:pt x="0" y="0"/>
                </a:moveTo>
                <a:lnTo>
                  <a:pt x="2978866" y="0"/>
                </a:lnTo>
                <a:lnTo>
                  <a:pt x="2978866" y="1314949"/>
                </a:lnTo>
                <a:lnTo>
                  <a:pt x="0" y="1314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10800000">
            <a:off x="0" y="0"/>
            <a:ext cx="1307166" cy="1010435"/>
            <a:chOff x="0" y="0"/>
            <a:chExt cx="1505075" cy="1163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5075" cy="1163418"/>
            </a:xfrm>
            <a:custGeom>
              <a:avLst/>
              <a:gdLst/>
              <a:ahLst/>
              <a:cxnLst/>
              <a:rect l="l" t="t" r="r" b="b"/>
              <a:pathLst>
                <a:path w="1505075" h="1163418">
                  <a:moveTo>
                    <a:pt x="0" y="0"/>
                  </a:moveTo>
                  <a:lnTo>
                    <a:pt x="1505075" y="0"/>
                  </a:lnTo>
                  <a:lnTo>
                    <a:pt x="1505075" y="1163418"/>
                  </a:lnTo>
                  <a:lnTo>
                    <a:pt x="0" y="1163418"/>
                  </a:lnTo>
                  <a:close/>
                </a:path>
              </a:pathLst>
            </a:custGeom>
            <a:solidFill>
              <a:srgbClr val="00214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505075" cy="1191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745697" y="0"/>
            <a:ext cx="1138304" cy="1010435"/>
            <a:chOff x="0" y="0"/>
            <a:chExt cx="812800" cy="7214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21496"/>
            </a:xfrm>
            <a:custGeom>
              <a:avLst/>
              <a:gdLst/>
              <a:ahLst/>
              <a:cxnLst/>
              <a:rect l="l" t="t" r="r" b="b"/>
              <a:pathLst>
                <a:path w="812800" h="721496">
                  <a:moveTo>
                    <a:pt x="406400" y="0"/>
                  </a:moveTo>
                  <a:lnTo>
                    <a:pt x="812800" y="721496"/>
                  </a:lnTo>
                  <a:lnTo>
                    <a:pt x="0" y="72149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657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306405"/>
              <a:ext cx="558800" cy="363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307166" y="-172434"/>
            <a:ext cx="16980834" cy="390889"/>
            <a:chOff x="0" y="0"/>
            <a:chExt cx="22378503" cy="5151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378502" cy="515140"/>
            </a:xfrm>
            <a:custGeom>
              <a:avLst/>
              <a:gdLst/>
              <a:ahLst/>
              <a:cxnLst/>
              <a:rect l="l" t="t" r="r" b="b"/>
              <a:pathLst>
                <a:path w="22378502" h="515140">
                  <a:moveTo>
                    <a:pt x="0" y="0"/>
                  </a:moveTo>
                  <a:lnTo>
                    <a:pt x="22378502" y="0"/>
                  </a:lnTo>
                  <a:lnTo>
                    <a:pt x="22378502" y="515140"/>
                  </a:lnTo>
                  <a:lnTo>
                    <a:pt x="0" y="515140"/>
                  </a:lnTo>
                  <a:close/>
                </a:path>
              </a:pathLst>
            </a:custGeom>
            <a:solidFill>
              <a:srgbClr val="E65700">
                <a:alpha val="52941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2378503" cy="543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01499" y="257246"/>
            <a:ext cx="2483734" cy="1410665"/>
          </a:xfrm>
          <a:custGeom>
            <a:avLst/>
            <a:gdLst/>
            <a:ahLst/>
            <a:cxnLst/>
            <a:rect l="l" t="t" r="r" b="b"/>
            <a:pathLst>
              <a:path w="2483734" h="1410665">
                <a:moveTo>
                  <a:pt x="0" y="0"/>
                </a:moveTo>
                <a:lnTo>
                  <a:pt x="2483734" y="0"/>
                </a:lnTo>
                <a:lnTo>
                  <a:pt x="2483734" y="1410664"/>
                </a:lnTo>
                <a:lnTo>
                  <a:pt x="0" y="14106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6359" t="-86182" r="-45388" b="-151424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0" y="9964388"/>
            <a:ext cx="15402314" cy="179609"/>
            <a:chOff x="0" y="0"/>
            <a:chExt cx="20298222" cy="2367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298221" cy="236701"/>
            </a:xfrm>
            <a:custGeom>
              <a:avLst/>
              <a:gdLst/>
              <a:ahLst/>
              <a:cxnLst/>
              <a:rect l="l" t="t" r="r" b="b"/>
              <a:pathLst>
                <a:path w="20298221" h="236701">
                  <a:moveTo>
                    <a:pt x="0" y="0"/>
                  </a:moveTo>
                  <a:lnTo>
                    <a:pt x="20298221" y="0"/>
                  </a:lnTo>
                  <a:lnTo>
                    <a:pt x="20298221" y="236701"/>
                  </a:lnTo>
                  <a:lnTo>
                    <a:pt x="0" y="236701"/>
                  </a:lnTo>
                  <a:close/>
                </a:path>
              </a:pathLst>
            </a:custGeom>
            <a:solidFill>
              <a:srgbClr val="E65700">
                <a:alpha val="53725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20298222" cy="265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24525" y="10133647"/>
            <a:ext cx="15670830" cy="179011"/>
            <a:chOff x="0" y="0"/>
            <a:chExt cx="20652090" cy="2359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652090" cy="235913"/>
            </a:xfrm>
            <a:custGeom>
              <a:avLst/>
              <a:gdLst/>
              <a:ahLst/>
              <a:cxnLst/>
              <a:rect l="l" t="t" r="r" b="b"/>
              <a:pathLst>
                <a:path w="20652090" h="235913">
                  <a:moveTo>
                    <a:pt x="0" y="0"/>
                  </a:moveTo>
                  <a:lnTo>
                    <a:pt x="20652090" y="0"/>
                  </a:lnTo>
                  <a:lnTo>
                    <a:pt x="20652090" y="235913"/>
                  </a:lnTo>
                  <a:lnTo>
                    <a:pt x="0" y="235913"/>
                  </a:lnTo>
                  <a:close/>
                </a:path>
              </a:pathLst>
            </a:custGeom>
            <a:solidFill>
              <a:srgbClr val="00214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20652090" cy="264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596039" y="9258300"/>
            <a:ext cx="2948641" cy="1592383"/>
            <a:chOff x="0" y="0"/>
            <a:chExt cx="1505075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6570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6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686106" y="9258300"/>
            <a:ext cx="1819866" cy="1592383"/>
            <a:chOff x="0" y="0"/>
            <a:chExt cx="812800" cy="711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6570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578018" y="9624591"/>
            <a:ext cx="1142053" cy="616754"/>
            <a:chOff x="0" y="0"/>
            <a:chExt cx="1505075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65700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225588" y="9624591"/>
            <a:ext cx="704861" cy="616754"/>
            <a:chOff x="0" y="0"/>
            <a:chExt cx="812800" cy="711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65700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926212" y="9537345"/>
            <a:ext cx="1361788" cy="735419"/>
            <a:chOff x="0" y="0"/>
            <a:chExt cx="1505075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14D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505972" y="9537345"/>
            <a:ext cx="840479" cy="735419"/>
            <a:chOff x="0" y="0"/>
            <a:chExt cx="812800" cy="711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214D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2519939" y="-1491476"/>
            <a:ext cx="12884533" cy="12908002"/>
          </a:xfrm>
          <a:custGeom>
            <a:avLst/>
            <a:gdLst/>
            <a:ahLst/>
            <a:cxnLst/>
            <a:rect l="l" t="t" r="r" b="b"/>
            <a:pathLst>
              <a:path w="12884533" h="12908002">
                <a:moveTo>
                  <a:pt x="0" y="0"/>
                </a:moveTo>
                <a:lnTo>
                  <a:pt x="12884532" y="0"/>
                </a:lnTo>
                <a:lnTo>
                  <a:pt x="12884532" y="12908002"/>
                </a:lnTo>
                <a:lnTo>
                  <a:pt x="0" y="12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4999"/>
            </a:blip>
            <a:stretch>
              <a:fillRect/>
            </a:stretch>
          </a:blipFill>
        </p:spPr>
      </p:sp>
      <p:grpSp>
        <p:nvGrpSpPr>
          <p:cNvPr id="40" name="Group 40"/>
          <p:cNvGrpSpPr>
            <a:grpSpLocks noChangeAspect="1"/>
          </p:cNvGrpSpPr>
          <p:nvPr/>
        </p:nvGrpSpPr>
        <p:grpSpPr>
          <a:xfrm>
            <a:off x="7610890" y="5790252"/>
            <a:ext cx="3478796" cy="3478796"/>
            <a:chOff x="0" y="0"/>
            <a:chExt cx="13884457" cy="13884457"/>
          </a:xfrm>
        </p:grpSpPr>
        <p:sp>
          <p:nvSpPr>
            <p:cNvPr id="41" name="Freeform 41"/>
            <p:cNvSpPr/>
            <p:nvPr/>
          </p:nvSpPr>
          <p:spPr>
            <a:xfrm>
              <a:off x="-31116" y="-70"/>
              <a:ext cx="13946687" cy="13884594"/>
            </a:xfrm>
            <a:custGeom>
              <a:avLst/>
              <a:gdLst/>
              <a:ahLst/>
              <a:cxnLst/>
              <a:rect l="l" t="t" r="r" b="b"/>
              <a:pathLst>
                <a:path w="13946687" h="13884594">
                  <a:moveTo>
                    <a:pt x="6973343" y="70"/>
                  </a:moveTo>
                  <a:cubicBezTo>
                    <a:pt x="4485729" y="-11055"/>
                    <a:pt x="2182303" y="1309688"/>
                    <a:pt x="935272" y="3462190"/>
                  </a:cubicBezTo>
                  <a:cubicBezTo>
                    <a:pt x="-311758" y="5614693"/>
                    <a:pt x="-311758" y="8269902"/>
                    <a:pt x="935272" y="10422404"/>
                  </a:cubicBezTo>
                  <a:cubicBezTo>
                    <a:pt x="2182303" y="12574907"/>
                    <a:pt x="4485729" y="13895650"/>
                    <a:pt x="6973343" y="13884525"/>
                  </a:cubicBezTo>
                  <a:cubicBezTo>
                    <a:pt x="9460958" y="13895650"/>
                    <a:pt x="11764384" y="12574907"/>
                    <a:pt x="13011414" y="10422404"/>
                  </a:cubicBezTo>
                  <a:cubicBezTo>
                    <a:pt x="14258444" y="8269902"/>
                    <a:pt x="14258444" y="5614693"/>
                    <a:pt x="13011414" y="3462190"/>
                  </a:cubicBezTo>
                  <a:cubicBezTo>
                    <a:pt x="11764384" y="1309688"/>
                    <a:pt x="9460958" y="-11055"/>
                    <a:pt x="6973343" y="70"/>
                  </a:cubicBezTo>
                  <a:close/>
                </a:path>
              </a:pathLst>
            </a:custGeom>
            <a:solidFill>
              <a:srgbClr val="FDFBFB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53489" y="84159"/>
              <a:ext cx="13777477" cy="13716138"/>
            </a:xfrm>
            <a:custGeom>
              <a:avLst/>
              <a:gdLst/>
              <a:ahLst/>
              <a:cxnLst/>
              <a:rect l="l" t="t" r="r" b="b"/>
              <a:pathLst>
                <a:path w="13777477" h="13716138">
                  <a:moveTo>
                    <a:pt x="6888738" y="69"/>
                  </a:moveTo>
                  <a:cubicBezTo>
                    <a:pt x="4431305" y="-10921"/>
                    <a:pt x="2155826" y="1293797"/>
                    <a:pt x="923925" y="3420184"/>
                  </a:cubicBezTo>
                  <a:cubicBezTo>
                    <a:pt x="-307975" y="5546572"/>
                    <a:pt x="-307975" y="8169565"/>
                    <a:pt x="923925" y="10295952"/>
                  </a:cubicBezTo>
                  <a:cubicBezTo>
                    <a:pt x="2155826" y="12422340"/>
                    <a:pt x="4431305" y="13727058"/>
                    <a:pt x="6888738" y="13716068"/>
                  </a:cubicBezTo>
                  <a:cubicBezTo>
                    <a:pt x="9346172" y="13727058"/>
                    <a:pt x="11621651" y="12422340"/>
                    <a:pt x="12853552" y="10295952"/>
                  </a:cubicBezTo>
                  <a:cubicBezTo>
                    <a:pt x="14085453" y="8169565"/>
                    <a:pt x="14085453" y="5546572"/>
                    <a:pt x="12853552" y="3420184"/>
                  </a:cubicBezTo>
                  <a:cubicBezTo>
                    <a:pt x="11621651" y="1293797"/>
                    <a:pt x="9346172" y="-10921"/>
                    <a:pt x="6888738" y="69"/>
                  </a:cubicBezTo>
                  <a:close/>
                </a:path>
              </a:pathLst>
            </a:custGeom>
            <a:blipFill>
              <a:blip r:embed="rId9"/>
              <a:stretch>
                <a:fillRect l="-4475" r="-4475"/>
              </a:stretch>
            </a:blipFill>
          </p:spPr>
        </p:sp>
      </p:grpSp>
      <p:sp>
        <p:nvSpPr>
          <p:cNvPr id="43" name="Freeform 43"/>
          <p:cNvSpPr/>
          <p:nvPr/>
        </p:nvSpPr>
        <p:spPr>
          <a:xfrm rot="-5400000">
            <a:off x="14915332" y="5038725"/>
            <a:ext cx="1503053" cy="1503053"/>
          </a:xfrm>
          <a:custGeom>
            <a:avLst/>
            <a:gdLst/>
            <a:ahLst/>
            <a:cxnLst/>
            <a:rect l="l" t="t" r="r" b="b"/>
            <a:pathLst>
              <a:path w="1503053" h="1503053">
                <a:moveTo>
                  <a:pt x="0" y="0"/>
                </a:moveTo>
                <a:lnTo>
                  <a:pt x="1503054" y="0"/>
                </a:lnTo>
                <a:lnTo>
                  <a:pt x="1503054" y="1503053"/>
                </a:lnTo>
                <a:lnTo>
                  <a:pt x="0" y="15030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5019778" y="3036090"/>
            <a:ext cx="9041758" cy="243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87"/>
              </a:lnSpc>
            </a:pPr>
            <a:r>
              <a:rPr lang="en-US" sz="7906" b="1" spc="55">
                <a:solidFill>
                  <a:srgbClr val="08377C"/>
                </a:solidFill>
                <a:latin typeface="Arimo Bold"/>
                <a:ea typeface="Arimo Bold"/>
                <a:cs typeface="Arimo Bold"/>
                <a:sym typeface="Arimo Bold"/>
              </a:rPr>
              <a:t>Thank you </a:t>
            </a:r>
          </a:p>
          <a:p>
            <a:pPr algn="ctr">
              <a:lnSpc>
                <a:spcPts val="9487"/>
              </a:lnSpc>
            </a:pPr>
            <a:r>
              <a:rPr lang="en-US" sz="7906" b="1" spc="55">
                <a:solidFill>
                  <a:srgbClr val="08377C"/>
                </a:solidFill>
                <a:latin typeface="Arimo Bold"/>
                <a:ea typeface="Arimo Bold"/>
                <a:cs typeface="Arimo Bold"/>
                <a:sym typeface="Arimo Bold"/>
              </a:rPr>
              <a:t>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2667</TotalTime>
  <Words>543</Words>
  <Application>Microsoft Office PowerPoint</Application>
  <PresentationFormat>Personnalisé</PresentationFormat>
  <Paragraphs>166</Paragraphs>
  <Slides>18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30" baseType="lpstr">
      <vt:lpstr>Arimo Bold</vt:lpstr>
      <vt:lpstr>Canva Sans</vt:lpstr>
      <vt:lpstr>Codec Pro ExtraBold</vt:lpstr>
      <vt:lpstr>TT Fors Bold</vt:lpstr>
      <vt:lpstr>Calibri</vt:lpstr>
      <vt:lpstr>TT Fors</vt:lpstr>
      <vt:lpstr>Canva Sans Bold</vt:lpstr>
      <vt:lpstr>Arimo</vt:lpstr>
      <vt:lpstr>Open Sans</vt:lpstr>
      <vt:lpstr>Arial</vt:lpstr>
      <vt:lpstr>DM Sans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stic</dc:title>
  <cp:lastModifiedBy>Aymen</cp:lastModifiedBy>
  <cp:revision>11</cp:revision>
  <dcterms:created xsi:type="dcterms:W3CDTF">2006-08-16T00:00:00Z</dcterms:created>
  <dcterms:modified xsi:type="dcterms:W3CDTF">2026-05-02T15:22:07Z</dcterms:modified>
  <dc:identifier>DAHD0AXch38</dc:identifier>
</cp:coreProperties>
</file>